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5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[Sources],User-provided GSK Requirements Clarification screenshots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4710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785"/>
                </a:solidFill>
              </a:rPr>
              <a:t>GSK Agentic Prototype Factory | Solution Design | Confidential</a:t>
            </a:r>
            <a:endParaRPr lang="en-US" sz="8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Agentic Prototype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Factory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1965960"/>
            <a:ext cx="6720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2D4F"/>
                </a:solidFill>
              </a:rPr>
              <a:t>Three installable Skills </a:t>
            </a:r>
            <a:r>
              <a:rPr lang="en-US" sz="2700" b="1">
                <a:solidFill>
                  <a:srgbClr val="0B2D4F"/>
                </a:solidFill>
              </a:rPr>
              <a:t>— run each one on its own, or chain them — inside</a:t>
            </a:r>
            <a:r>
              <a:rPr lang="en-US" sz="2700" b="1" dirty="0">
                <a:solidFill>
                  <a:srgbClr val="0B2D4F"/>
                </a:solidFill>
              </a:rPr>
              <a:t> GitHub Copilot or Claude Desktop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343400" y="3794760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A4C93"/>
                </a:solidFill>
              </a:rPr>
              <a:t>Requirements Factory  </a:t>
            </a:r>
            <a:r>
              <a:rPr lang="en-US" sz="1600" b="1">
                <a:solidFill>
                  <a:srgbClr val="6A4C93"/>
                </a:solidFill>
              </a:rPr>
              <a:t>•  </a:t>
            </a:r>
            <a:r>
              <a:rPr lang="en-US" sz="1600" b="1" dirty="0">
                <a:solidFill>
                  <a:srgbClr val="6A4C93"/>
                </a:solidFill>
              </a:rPr>
              <a:t>Presentation Factory  </a:t>
            </a:r>
            <a:r>
              <a:rPr lang="en-US" sz="1600" b="1">
                <a:solidFill>
                  <a:srgbClr val="6A4C93"/>
                </a:solidFill>
              </a:rPr>
              <a:t>•</a:t>
            </a:r>
            <a:r>
              <a:rPr lang="en-US" sz="1600" b="1" dirty="0">
                <a:solidFill>
                  <a:srgbClr val="6A4C93"/>
                </a:solidFill>
              </a:rPr>
              <a:t>  Prototype Factory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5577840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5"/>
                </a:solidFill>
              </a:rPr>
              <a:t>Design Review • Version 2.0 •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Clarified MVP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What </a:t>
            </a:r>
            <a:r>
              <a:rPr lang="en-US" sz="1150" dirty="0">
                <a:solidFill>
                  <a:srgbClr val="5B6775"/>
                </a:solidFill>
              </a:rPr>
              <a:t>the </a:t>
            </a:r>
            <a:r>
              <a:rPr lang="en-US" sz="1150">
                <a:solidFill>
                  <a:srgbClr val="5B6775"/>
                </a:solidFill>
              </a:rPr>
              <a:t>project needs, and what it leaves out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3492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4924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REQUIRED FOR </a:t>
            </a:r>
            <a:r>
              <a:rPr lang="en-US" sz="1400" b="1">
                <a:solidFill>
                  <a:srgbClr val="FFFFFF"/>
                </a:solidFill>
              </a:rPr>
              <a:t>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4910328" cy="4169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Streamlit POC workbench: build-time only</a:t>
            </a:r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Three separate Skill packages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Workspace files and chat history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Scripts, templates, guides and local tools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User input and any references they give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Editable files saved right to the workspace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A person confirms by chat</a:t>
            </a:r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BMAD may be used internally as an analysis or template reference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492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349240" cy="438912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82512" y="1307592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 REQUIRED FOR MVP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37376" y="1810512"/>
            <a:ext cx="4910328" cy="4169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 live </a:t>
            </a:r>
            <a:r>
              <a:rPr lang="en-US" sz="1110" dirty="0">
                <a:solidFill>
                  <a:srgbClr val="17202A"/>
                </a:solidFill>
              </a:rPr>
              <a:t>React web </a:t>
            </a:r>
            <a:r>
              <a:rPr lang="en-US" sz="1110">
                <a:solidFill>
                  <a:srgbClr val="17202A"/>
                </a:solidFill>
              </a:rPr>
              <a:t>app for users at runtime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 central controller </a:t>
            </a:r>
            <a:r>
              <a:rPr lang="en-US" sz="1110" dirty="0">
                <a:solidFill>
                  <a:srgbClr val="17202A"/>
                </a:solidFill>
              </a:rPr>
              <a:t>or LangGraph runtime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FastAPI, API gateway or query router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RAG, vector database or web-search agent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Azure Cache or </a:t>
            </a:r>
            <a:r>
              <a:rPr lang="en-US" sz="1110">
                <a:solidFill>
                  <a:srgbClr val="17202A"/>
                </a:solidFill>
              </a:rPr>
              <a:t>a </a:t>
            </a:r>
            <a:r>
              <a:rPr lang="en-US" sz="1110" dirty="0">
                <a:solidFill>
                  <a:srgbClr val="17202A"/>
                </a:solidFill>
              </a:rPr>
              <a:t>separate session </a:t>
            </a:r>
            <a:r>
              <a:rPr lang="en-US" sz="1110">
                <a:solidFill>
                  <a:srgbClr val="17202A"/>
                </a:solidFill>
              </a:rPr>
              <a:t>store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ZIP</a:t>
            </a:r>
            <a:r>
              <a:rPr lang="en-US" sz="1110">
                <a:solidFill>
                  <a:srgbClr val="17202A"/>
                </a:solidFill>
              </a:rPr>
              <a:t> </a:t>
            </a:r>
            <a:r>
              <a:rPr lang="en-US" sz="1110" dirty="0">
                <a:solidFill>
                  <a:srgbClr val="17202A"/>
                </a:solidFill>
              </a:rPr>
              <a:t>download API</a:t>
            </a:r>
            <a:r>
              <a:rPr lang="en-US" sz="1110">
                <a:solidFill>
                  <a:srgbClr val="17202A"/>
                </a:solidFill>
              </a:rPr>
              <a:t> and live release pipeline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 separate human triage gate; full 21-agent BMAD build</a:t>
            </a:r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Separately deployed Requirements, Design, UI, Code or Review Agents</a:t>
            </a:r>
            <a:endParaRPr lang="en-US" sz="1110"/>
          </a:p>
        </p:txBody>
      </p:sp>
      <p:sp>
        <p:nvSpPr>
          <p:cNvPr id="24" name="Text 22"/>
          <p:cNvSpPr/>
          <p:nvPr/>
        </p:nvSpPr>
        <p:spPr>
          <a:xfrm>
            <a:off x="640080" y="6217920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B2D4F"/>
                </a:solidFill>
              </a:rPr>
              <a:t>Anything in the right-hand column can be added only if GSK approves it through the change-control process.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Target user journey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</a:rPr>
              <a:t>Users </a:t>
            </a:r>
            <a:r>
              <a:rPr lang="en-US" sz="1150">
                <a:solidFill>
                  <a:srgbClr val="5B6775"/>
                </a:solidFill>
              </a:rPr>
              <a:t>run </a:t>
            </a:r>
            <a:r>
              <a:rPr lang="en-US" sz="1150" dirty="0">
                <a:solidFill>
                  <a:srgbClr val="5B6775"/>
                </a:solidFill>
              </a:rPr>
              <a:t>Skills </a:t>
            </a:r>
            <a:r>
              <a:rPr lang="en-US" sz="1150">
                <a:solidFill>
                  <a:srgbClr val="5B6775"/>
                </a:solidFill>
              </a:rPr>
              <a:t>on their own </a:t>
            </a:r>
            <a:r>
              <a:rPr lang="en-US" sz="1150" dirty="0">
                <a:solidFill>
                  <a:srgbClr val="5B6775"/>
                </a:solidFill>
              </a:rPr>
              <a:t>or </a:t>
            </a:r>
            <a:r>
              <a:rPr lang="en-US" sz="1150">
                <a:solidFill>
                  <a:srgbClr val="5B6775"/>
                </a:solidFill>
              </a:rPr>
              <a:t>link</a:t>
            </a:r>
            <a:r>
              <a:rPr lang="en-US" sz="1150" dirty="0">
                <a:solidFill>
                  <a:srgbClr val="5B6775"/>
                </a:solidFill>
              </a:rPr>
              <a:t> them through workspace files.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384048" cy="384048"/>
          </a:xfrm>
          <a:prstGeom prst="ellipse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3258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3350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POC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3350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Put the project idea into </a:t>
            </a:r>
            <a:r>
              <a:rPr lang="en-US" sz="1160" dirty="0">
                <a:solidFill>
                  <a:srgbClr val="17202A"/>
                </a:solidFill>
              </a:rPr>
              <a:t>the Streamlit workbench</a:t>
            </a:r>
            <a:r>
              <a:rPr lang="en-US" sz="1160">
                <a:solidFill>
                  <a:srgbClr val="17202A"/>
                </a:solidFill>
              </a:rPr>
              <a:t> and shape the Skills from it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85800" y="1956816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20574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92024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20665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Create Skill packages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06654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Write </a:t>
            </a:r>
            <a:r>
              <a:rPr lang="en-US" sz="1160" dirty="0">
                <a:solidFill>
                  <a:srgbClr val="17202A"/>
                </a:solidFill>
              </a:rPr>
              <a:t>SKILL.md, prompts, templates, </a:t>
            </a:r>
            <a:r>
              <a:rPr lang="en-US" sz="1160">
                <a:solidFill>
                  <a:srgbClr val="17202A"/>
                </a:solidFill>
              </a:rPr>
              <a:t>rules</a:t>
            </a:r>
            <a:r>
              <a:rPr lang="en-US" sz="1160" dirty="0">
                <a:solidFill>
                  <a:srgbClr val="17202A"/>
                </a:solidFill>
              </a:rPr>
              <a:t>, scripts and tests for A, B and C.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5800" y="2688336"/>
            <a:ext cx="384048" cy="384048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27889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65176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Test and refine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79806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Run sample inputs, human </a:t>
            </a:r>
            <a:r>
              <a:rPr lang="en-US" sz="1160">
                <a:solidFill>
                  <a:srgbClr val="17202A"/>
                </a:solidFill>
              </a:rPr>
              <a:t>checks</a:t>
            </a:r>
            <a:r>
              <a:rPr lang="en-US" sz="1160" dirty="0">
                <a:solidFill>
                  <a:srgbClr val="17202A"/>
                </a:solidFill>
              </a:rPr>
              <a:t>, </a:t>
            </a:r>
            <a:r>
              <a:rPr lang="en-US" sz="1160">
                <a:solidFill>
                  <a:srgbClr val="17202A"/>
                </a:solidFill>
              </a:rPr>
              <a:t>testing </a:t>
            </a:r>
            <a:r>
              <a:rPr lang="en-US" sz="1160" dirty="0">
                <a:solidFill>
                  <a:srgbClr val="17202A"/>
                </a:solidFill>
              </a:rPr>
              <a:t>and </a:t>
            </a:r>
            <a:r>
              <a:rPr lang="en-US" sz="1160">
                <a:solidFill>
                  <a:srgbClr val="17202A"/>
                </a:solidFill>
              </a:rPr>
              <a:t>sign-off</a:t>
            </a:r>
            <a:r>
              <a:rPr lang="en-US" sz="1160" dirty="0">
                <a:solidFill>
                  <a:srgbClr val="17202A"/>
                </a:solidFill>
              </a:rPr>
              <a:t> scenarios.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85800" y="341985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" y="35204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338328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3529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Package and hand over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52958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Give GSK </a:t>
            </a:r>
            <a:r>
              <a:rPr lang="en-US" sz="1160" dirty="0">
                <a:solidFill>
                  <a:srgbClr val="17202A"/>
                </a:solidFill>
              </a:rPr>
              <a:t>Skill packages </a:t>
            </a:r>
            <a:r>
              <a:rPr lang="en-US" sz="1160">
                <a:solidFill>
                  <a:srgbClr val="17202A"/>
                </a:solidFill>
              </a:rPr>
              <a:t>that install, with versions and docs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85800" y="4151376"/>
            <a:ext cx="384048" cy="384048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425196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411480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4480" y="42611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Client installation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26110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GSK installs the approved packages in GitHub Copilot or Claude Desktop.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85800" y="4882896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6384" y="49834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0160" y="484632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54480" y="4992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Client invocation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49926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Enter a short idea, answer Skill A's questions, confirm — then run </a:t>
            </a:r>
            <a:r>
              <a:rPr lang="en-US" sz="1160" dirty="0">
                <a:solidFill>
                  <a:srgbClr val="17202A"/>
                </a:solidFill>
              </a:rPr>
              <a:t>B or C </a:t>
            </a:r>
            <a:r>
              <a:rPr lang="en-US" sz="1160">
                <a:solidFill>
                  <a:srgbClr val="17202A"/>
                </a:solidFill>
              </a:rPr>
              <a:t>alone </a:t>
            </a:r>
            <a:r>
              <a:rPr lang="en-US" sz="1160" dirty="0">
                <a:solidFill>
                  <a:srgbClr val="17202A"/>
                </a:solidFill>
              </a:rPr>
              <a:t>or </a:t>
            </a:r>
            <a:r>
              <a:rPr lang="en-US" sz="1160">
                <a:solidFill>
                  <a:srgbClr val="17202A"/>
                </a:solidFill>
              </a:rPr>
              <a:t>as A → B / A → C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685800" y="5614416"/>
            <a:ext cx="384048" cy="384048"/>
          </a:xfrm>
          <a:prstGeom prst="ellipse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" y="57150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557784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54480" y="57241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Generate artifacts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31920" y="572414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Skills </a:t>
            </a:r>
            <a:r>
              <a:rPr lang="en-US" sz="1160">
                <a:solidFill>
                  <a:srgbClr val="17202A"/>
                </a:solidFill>
              </a:rPr>
              <a:t>make </a:t>
            </a:r>
            <a:r>
              <a:rPr lang="en-US" sz="1160" dirty="0">
                <a:solidFill>
                  <a:srgbClr val="17202A"/>
                </a:solidFill>
              </a:rPr>
              <a:t>PRD.md, Presentation.pptx and</a:t>
            </a:r>
            <a:r>
              <a:rPr lang="en-US" sz="1160">
                <a:solidFill>
                  <a:srgbClr val="17202A"/>
                </a:solidFill>
              </a:rPr>
              <a:t>, if needed,</a:t>
            </a:r>
            <a:r>
              <a:rPr lang="en-US" sz="1160" dirty="0">
                <a:solidFill>
                  <a:srgbClr val="17202A"/>
                </a:solidFill>
              </a:rPr>
              <a:t> Prototype</a:t>
            </a:r>
            <a:r>
              <a:rPr lang="en-US" sz="1160">
                <a:solidFill>
                  <a:srgbClr val="17202A"/>
                </a:solidFill>
              </a:rPr>
              <a:t>/ — once approved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41" name="Text 40"/>
          <p:cNvSpPr/>
          <p:nvPr/>
        </p:nvSpPr>
        <p:spPr>
          <a:xfrm>
            <a:off x="685800" y="6217920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B2D4F"/>
                </a:solidFill>
              </a:rPr>
              <a:t>Skills pass work through versioned, editable workspace files. No permanent central Agent is involved.</a:t>
            </a:r>
            <a:endParaRPr lang="en-US" sz="105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Final simple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We build Skills </a:t>
            </a:r>
            <a:r>
              <a:rPr lang="en-US" sz="1150" dirty="0">
                <a:solidFill>
                  <a:srgbClr val="5B6775"/>
                </a:solidFill>
              </a:rPr>
              <a:t>→ approved Skill packages → </a:t>
            </a:r>
            <a:r>
              <a:rPr lang="en-US" sz="1150">
                <a:solidFill>
                  <a:srgbClr val="5B6775"/>
                </a:solidFill>
              </a:rPr>
              <a:t>GSK runs them </a:t>
            </a:r>
            <a:r>
              <a:rPr lang="en-US" sz="1150" dirty="0">
                <a:solidFill>
                  <a:srgbClr val="5B6775"/>
                </a:solidFill>
              </a:rPr>
              <a:t>→ </a:t>
            </a:r>
            <a:r>
              <a:rPr lang="en-US" sz="1150">
                <a:solidFill>
                  <a:srgbClr val="5B6775"/>
                </a:solidFill>
              </a:rPr>
              <a:t>people approve outputs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11000232" cy="658368"/>
          </a:xfrm>
          <a:prstGeom prst="roundRect">
            <a:avLst/>
          </a:prstGeom>
          <a:solidFill>
            <a:srgbClr val="EAF3FA"/>
          </a:solidFill>
          <a:ln w="1651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0" y="130759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69AA"/>
                </a:solidFill>
              </a:rPr>
              <a:t>POC WORKBENCH:</a:t>
            </a:r>
            <a:r>
              <a:rPr lang="en-US" sz="1800" b="1">
                <a:solidFill>
                  <a:srgbClr val="1769AA"/>
                </a:solidFill>
              </a:rPr>
              <a:t> project idea →</a:t>
            </a:r>
            <a:r>
              <a:rPr lang="en-US" sz="1800" b="1" dirty="0">
                <a:solidFill>
                  <a:srgbClr val="1769AA"/>
                </a:solidFill>
              </a:rPr>
              <a:t> Streamlit UI</a:t>
            </a:r>
            <a:r>
              <a:rPr lang="en-US" sz="1800" b="1">
                <a:solidFill>
                  <a:srgbClr val="1769AA"/>
                </a:solidFill>
              </a:rPr>
              <a:t> (build-time only)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30552" y="1783080"/>
            <a:ext cx="256032" cy="365760"/>
          </a:xfrm>
          <a:prstGeom prst="downArrow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3337560" cy="960120"/>
          </a:xfrm>
          <a:prstGeom prst="roundRect">
            <a:avLst/>
          </a:prstGeom>
          <a:solidFill>
            <a:srgbClr val="EAF3FA"/>
          </a:solidFill>
          <a:ln w="1778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69AA"/>
                </a:solidFill>
              </a:rPr>
              <a:t>CREATE SKILL 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69AA"/>
                </a:solidFill>
              </a:rPr>
              <a:t>Requirements Factory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61888" y="1783080"/>
            <a:ext cx="256032" cy="365760"/>
          </a:xfrm>
          <a:prstGeom prst="downArrow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25696" y="2194560"/>
            <a:ext cx="3337560" cy="960120"/>
          </a:xfrm>
          <a:prstGeom prst="roundRect">
            <a:avLst/>
          </a:prstGeom>
          <a:solidFill>
            <a:srgbClr val="EAF5EB"/>
          </a:solidFill>
          <a:ln w="1778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CREATE SKILL 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Presentation Factory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93224" y="1783080"/>
            <a:ext cx="256032" cy="365760"/>
          </a:xfrm>
          <a:prstGeom prst="downArrow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57032" y="2194560"/>
            <a:ext cx="3337560" cy="960120"/>
          </a:xfrm>
          <a:prstGeom prst="roundRect">
            <a:avLst/>
          </a:prstGeom>
          <a:solidFill>
            <a:srgbClr val="FFF1E7"/>
          </a:solidFill>
          <a:ln w="1778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85632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5F02"/>
                </a:solidFill>
              </a:rPr>
              <a:t>CREATE SKILL 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95F02"/>
                </a:solidFill>
              </a:rPr>
              <a:t>Prototype Factory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43000" y="3429000"/>
            <a:ext cx="9921240" cy="566928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3602736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A4C93"/>
                </a:solidFill>
              </a:rPr>
              <a:t>POC OUTPUT: approved and installable Skill packages containing SKILL.md + supporting assets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61888" y="4023360"/>
            <a:ext cx="274320" cy="365760"/>
          </a:xfrm>
          <a:prstGeom prst="downArrow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3000" y="4434840"/>
            <a:ext cx="99212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20240" y="4530000"/>
            <a:ext cx="832104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2D4F"/>
                </a:solidFill>
              </a:rPr>
              <a:t>CLIENT RUNTIME: GitHub Copilot  OR  Claude Desktop</a:t>
            </a:r>
            <a:endParaRPr lang="en-US" sz="1600" b="1" dirty="0">
              <a:solidFill>
                <a:srgbClr val="0B2D4F"/>
              </a:solidFill>
            </a:endParaRPr>
          </a:p>
          <a:p>
            <a:pPr marL="0" indent="0" algn="ctr">
              <a:buNone/>
            </a:pPr>
            <a:r>
              <a:rPr lang="en-US" sz="950" b="1">
                <a:solidFill>
                  <a:srgbClr val="0B2D4F"/>
                </a:solidFill>
              </a:rPr>
              <a:t>INPUTS: project idea • reference files • answers in chat   →   Skill A → PRD.md → Skill B / Skill C (each can run alone)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594360" y="5158000"/>
            <a:ext cx="11000232" cy="50000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272000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A4C93"/>
                </a:solidFill>
              </a:rPr>
              <a:t>HUMAN-IN-THE-LOOP → PRD.md  |  Presentation.pptx  |  Prototype/ </a:t>
            </a:r>
            <a:r>
              <a:rPr lang="en-US" sz="1350" b="1">
                <a:solidFill>
                  <a:srgbClr val="6A4C93"/>
                </a:solidFill>
              </a:rPr>
              <a:t>(if needed) </a:t>
            </a:r>
            <a:r>
              <a:rPr lang="en-US" sz="1350" b="1" dirty="0">
                <a:solidFill>
                  <a:srgbClr val="6A4C93"/>
                </a:solidFill>
              </a:rPr>
              <a:t> |  docs/</a:t>
            </a:r>
            <a:endParaRPr lang="en-US" sz="1350" dirty="0"/>
          </a:p>
        </p:txBody>
      </p:sp>
      <p:sp>
        <p:nvSpPr>
          <p:cNvPr id="41" name="Text 41"/>
          <p:cNvSpPr/>
          <p:nvPr/>
        </p:nvSpPr>
        <p:spPr>
          <a:xfrm>
            <a:off x="594360" y="6300000"/>
            <a:ext cx="1100023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2D4F"/>
                </a:solidFill>
              </a:rPr>
              <a:t>Skills hand off through workspace files. There is no central Agent or orchestrator.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594360" y="5730000"/>
            <a:ext cx="11000232" cy="50000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/>
          <p:nvPr/>
        </p:nvSpPr>
        <p:spPr>
          <a:xfrm>
            <a:off x="914400" y="5844000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6A4C93"/>
                </a:solidFill>
              </a:rPr>
              <a:t>OBSERVABILITY → run-records/  |  approvals/  |  logs/  |  test-results/  |  traceability matrix</a:t>
            </a:r>
            <a:endParaRPr lang="en-US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What every Skill package contains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Each Skill is a complete, installable</a:t>
            </a:r>
            <a:r>
              <a:rPr lang="en-US" sz="1150" dirty="0">
                <a:solidFill>
                  <a:srgbClr val="5B6775"/>
                </a:solidFill>
              </a:rPr>
              <a:t>, </a:t>
            </a:r>
            <a:r>
              <a:rPr lang="en-US" sz="1150">
                <a:solidFill>
                  <a:srgbClr val="5B6775"/>
                </a:solidFill>
              </a:rPr>
              <a:t>testable </a:t>
            </a:r>
            <a:r>
              <a:rPr lang="en-US" sz="1150" dirty="0">
                <a:solidFill>
                  <a:srgbClr val="5B6775"/>
                </a:solidFill>
              </a:rPr>
              <a:t>and </a:t>
            </a:r>
            <a:r>
              <a:rPr lang="en-US" sz="1150">
                <a:solidFill>
                  <a:srgbClr val="5B6775"/>
                </a:solidFill>
              </a:rPr>
              <a:t>maintainable package — not just a prompt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290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29000" cy="438912"/>
          </a:xfrm>
          <a:prstGeom prst="rect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PACKAGE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2990088" cy="4169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SKILL.md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prompts/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templates/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contracts/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scripts/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references/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examples/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tests/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docs/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CHANGELOG.md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34290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3429000" cy="43891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SKILL.md CONTENT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1810512"/>
            <a:ext cx="2990088" cy="4169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What it does, its limits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one way in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When it runs; optional helper Skills inside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Needed </a:t>
            </a:r>
            <a:r>
              <a:rPr lang="en-US" sz="1110" dirty="0">
                <a:solidFill>
                  <a:srgbClr val="17202A"/>
                </a:solidFill>
              </a:rPr>
              <a:t>and optional inputs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What it produces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where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Steps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order of questions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Where people must approve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Tools it may use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outside </a:t>
            </a:r>
            <a:r>
              <a:rPr lang="en-US" sz="1110" dirty="0">
                <a:solidFill>
                  <a:srgbClr val="17202A"/>
                </a:solidFill>
              </a:rPr>
              <a:t>calls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What happens on errors</a:t>
            </a:r>
            <a:r>
              <a:rPr lang="en-US" sz="1110" dirty="0">
                <a:solidFill>
                  <a:srgbClr val="17202A"/>
                </a:solidFill>
              </a:rPr>
              <a:t>, </a:t>
            </a:r>
            <a:r>
              <a:rPr lang="en-US" sz="1110">
                <a:solidFill>
                  <a:srgbClr val="17202A"/>
                </a:solidFill>
              </a:rPr>
              <a:t>stops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retries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When it is done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4290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429000" cy="43891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SUPPORTING 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1810512"/>
            <a:ext cx="2990088" cy="4169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Sets of questions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prompts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Templates for docs, slides</a:t>
            </a:r>
            <a:r>
              <a:rPr lang="en-US" sz="1110" dirty="0">
                <a:solidFill>
                  <a:srgbClr val="17202A"/>
                </a:solidFill>
              </a:rPr>
              <a:t>, code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Agreed formats for what goes in and out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Scripts to build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check output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Example </a:t>
            </a:r>
            <a:r>
              <a:rPr lang="en-US" sz="1110" dirty="0">
                <a:solidFill>
                  <a:srgbClr val="17202A"/>
                </a:solidFill>
              </a:rPr>
              <a:t>inputs and </a:t>
            </a:r>
            <a:r>
              <a:rPr lang="en-US" sz="1110">
                <a:solidFill>
                  <a:srgbClr val="17202A"/>
                </a:solidFill>
              </a:rPr>
              <a:t>results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Tests that run themselves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Guides to set up</a:t>
            </a:r>
            <a:r>
              <a:rPr lang="en-US" sz="1110" dirty="0">
                <a:solidFill>
                  <a:srgbClr val="17202A"/>
                </a:solidFill>
              </a:rPr>
              <a:t>, </a:t>
            </a:r>
            <a:r>
              <a:rPr lang="en-US" sz="1110">
                <a:solidFill>
                  <a:srgbClr val="17202A"/>
                </a:solidFill>
              </a:rPr>
              <a:t>use</a:t>
            </a:r>
            <a:r>
              <a:rPr lang="en-US" sz="1110" dirty="0">
                <a:solidFill>
                  <a:srgbClr val="17202A"/>
                </a:solidFill>
              </a:rPr>
              <a:t>, </a:t>
            </a:r>
            <a:r>
              <a:rPr lang="en-US" sz="1110">
                <a:solidFill>
                  <a:srgbClr val="17202A"/>
                </a:solidFill>
              </a:rPr>
              <a:t>extend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fix problems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Skill A: Requirements Factory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Asks questions step by step, then writes</a:t>
            </a:r>
            <a:r>
              <a:rPr lang="en-US" sz="1150" dirty="0">
                <a:solidFill>
                  <a:srgbClr val="5B6775"/>
                </a:solidFill>
              </a:rPr>
              <a:t> an approved PRD.md.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7472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• SKILL.md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Starts on </a:t>
            </a:r>
            <a:r>
              <a:rPr lang="en-US" sz="1110" dirty="0">
                <a:solidFill>
                  <a:srgbClr val="17202A"/>
                </a:solidFill>
              </a:rPr>
              <a:t>a new idea or PRD request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Reads your notes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any </a:t>
            </a:r>
            <a:r>
              <a:rPr lang="en-US" sz="1110" dirty="0">
                <a:solidFill>
                  <a:srgbClr val="17202A"/>
                </a:solidFill>
              </a:rPr>
              <a:t>project files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Spots what is </a:t>
            </a:r>
            <a:r>
              <a:rPr lang="en-US" sz="1110" dirty="0">
                <a:solidFill>
                  <a:srgbClr val="17202A"/>
                </a:solidFill>
              </a:rPr>
              <a:t>missing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Asks focused </a:t>
            </a:r>
            <a:r>
              <a:rPr lang="en-US" sz="1110" dirty="0">
                <a:solidFill>
                  <a:srgbClr val="17202A"/>
                </a:solidFill>
              </a:rPr>
              <a:t>questions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Never guesses key </a:t>
            </a:r>
            <a:r>
              <a:rPr lang="en-US" sz="1110" dirty="0">
                <a:solidFill>
                  <a:srgbClr val="17202A"/>
                </a:solidFill>
              </a:rPr>
              <a:t>facts</a:t>
            </a:r>
            <a:r>
              <a:rPr lang="en-US" sz="1110">
                <a:solidFill>
                  <a:srgbClr val="17202A"/>
                </a:solidFill>
              </a:rPr>
              <a:t>; marks anything inferred as an assumption or open question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Waits </a:t>
            </a:r>
            <a:r>
              <a:rPr lang="en-US" sz="1110" dirty="0">
                <a:solidFill>
                  <a:srgbClr val="17202A"/>
                </a:solidFill>
              </a:rPr>
              <a:t>for </a:t>
            </a:r>
            <a:r>
              <a:rPr lang="en-US" sz="1110">
                <a:solidFill>
                  <a:srgbClr val="17202A"/>
                </a:solidFill>
              </a:rPr>
              <a:t>OK on </a:t>
            </a:r>
            <a:r>
              <a:rPr lang="en-US" sz="1110" dirty="0">
                <a:solidFill>
                  <a:srgbClr val="17202A"/>
                </a:solidFill>
              </a:rPr>
              <a:t>scope and </a:t>
            </a:r>
            <a:r>
              <a:rPr lang="en-US" sz="1110">
                <a:solidFill>
                  <a:srgbClr val="17202A"/>
                </a:solidFill>
              </a:rPr>
              <a:t>assumptions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Writes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checks </a:t>
            </a:r>
            <a:r>
              <a:rPr lang="en-US" sz="1110" dirty="0">
                <a:solidFill>
                  <a:srgbClr val="17202A"/>
                </a:solidFill>
              </a:rPr>
              <a:t>PRD.md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Logs the </a:t>
            </a:r>
            <a:r>
              <a:rPr lang="en-US" sz="1110" dirty="0">
                <a:solidFill>
                  <a:srgbClr val="17202A"/>
                </a:solidFill>
              </a:rPr>
              <a:t>approval and </a:t>
            </a:r>
            <a:r>
              <a:rPr lang="en-US" sz="1110">
                <a:solidFill>
                  <a:srgbClr val="17202A"/>
                </a:solidFill>
              </a:rPr>
              <a:t>file</a:t>
            </a:r>
            <a:r>
              <a:rPr lang="en-US" sz="1110" dirty="0">
                <a:solidFill>
                  <a:srgbClr val="17202A"/>
                </a:solidFill>
              </a:rPr>
              <a:t> path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61688" y="1188720"/>
            <a:ext cx="347472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• PACKAGE ASSETS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PRD template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Library of follow-up questions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Patterns for users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stories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Feature</a:t>
            </a:r>
            <a:r>
              <a:rPr lang="en-US" sz="1110" dirty="0">
                <a:solidFill>
                  <a:srgbClr val="17202A"/>
                </a:solidFill>
              </a:rPr>
              <a:t>/</a:t>
            </a:r>
            <a:r>
              <a:rPr lang="en-US" sz="1110">
                <a:solidFill>
                  <a:srgbClr val="17202A"/>
                </a:solidFill>
              </a:rPr>
              <a:t>quality checks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Layout for sign-off rules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Scripts to check it is complete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valid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Sample idea and sample PRD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Independent and A→B/A→C tests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083296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83296" y="1188720"/>
            <a:ext cx="347472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7888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• PRD 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Purpose and business context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Scope and target users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Use cases and user stories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What it must do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How well it must do it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Assumptions and </a:t>
            </a:r>
            <a:r>
              <a:rPr lang="en-US" sz="1110">
                <a:solidFill>
                  <a:srgbClr val="17202A"/>
                </a:solidFill>
              </a:rPr>
              <a:t>limits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Dependencies and risks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Sign-off rules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Open questions and decisions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Skill B: Presentation Factory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Builds </a:t>
            </a:r>
            <a:r>
              <a:rPr lang="en-US" sz="1150" dirty="0">
                <a:solidFill>
                  <a:srgbClr val="5B6775"/>
                </a:solidFill>
              </a:rPr>
              <a:t>an editable deck from a </a:t>
            </a:r>
            <a:r>
              <a:rPr lang="en-US" sz="1150">
                <a:solidFill>
                  <a:srgbClr val="5B6775"/>
                </a:solidFill>
              </a:rPr>
              <a:t>valid </a:t>
            </a:r>
            <a:r>
              <a:rPr lang="en-US" sz="1150" dirty="0">
                <a:solidFill>
                  <a:srgbClr val="5B6775"/>
                </a:solidFill>
              </a:rPr>
              <a:t>PRD or </a:t>
            </a:r>
            <a:r>
              <a:rPr lang="en-US" sz="1150">
                <a:solidFill>
                  <a:srgbClr val="5B6775"/>
                </a:solidFill>
              </a:rPr>
              <a:t>a </a:t>
            </a:r>
            <a:r>
              <a:rPr lang="en-US" sz="1150" dirty="0">
                <a:solidFill>
                  <a:srgbClr val="5B6775"/>
                </a:solidFill>
              </a:rPr>
              <a:t>source</a:t>
            </a:r>
            <a:r>
              <a:rPr lang="en-US" sz="1150">
                <a:solidFill>
                  <a:srgbClr val="5B6775"/>
                </a:solidFill>
              </a:rPr>
              <a:t> you pick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7472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 • SKILL.md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Starts when a deck is needed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Reads any valid </a:t>
            </a:r>
            <a:r>
              <a:rPr lang="en-US" sz="1110" dirty="0">
                <a:solidFill>
                  <a:srgbClr val="17202A"/>
                </a:solidFill>
              </a:rPr>
              <a:t>PRD</a:t>
            </a:r>
            <a:r>
              <a:rPr lang="en-US" sz="1110">
                <a:solidFill>
                  <a:srgbClr val="17202A"/>
                </a:solidFill>
              </a:rPr>
              <a:t>; does not need Skill A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Asks who,</a:t>
            </a:r>
            <a:r>
              <a:rPr lang="en-US" sz="1110" dirty="0">
                <a:solidFill>
                  <a:srgbClr val="17202A"/>
                </a:solidFill>
              </a:rPr>
              <a:t> </a:t>
            </a:r>
            <a:r>
              <a:rPr lang="en-US" sz="1110">
                <a:solidFill>
                  <a:srgbClr val="17202A"/>
                </a:solidFill>
              </a:rPr>
              <a:t>why, what </a:t>
            </a:r>
            <a:r>
              <a:rPr lang="en-US" sz="1110" dirty="0">
                <a:solidFill>
                  <a:srgbClr val="17202A"/>
                </a:solidFill>
              </a:rPr>
              <a:t>style</a:t>
            </a:r>
            <a:r>
              <a:rPr lang="en-US" sz="1110">
                <a:solidFill>
                  <a:srgbClr val="17202A"/>
                </a:solidFill>
              </a:rPr>
              <a:t> and how long; flags gaps in input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Builds the story </a:t>
            </a:r>
            <a:r>
              <a:rPr lang="en-US" sz="1110" dirty="0">
                <a:solidFill>
                  <a:srgbClr val="17202A"/>
                </a:solidFill>
              </a:rPr>
              <a:t>and slide outline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Waits </a:t>
            </a:r>
            <a:r>
              <a:rPr lang="en-US" sz="1110" dirty="0">
                <a:solidFill>
                  <a:srgbClr val="17202A"/>
                </a:solidFill>
              </a:rPr>
              <a:t>for outline </a:t>
            </a:r>
            <a:r>
              <a:rPr lang="en-US" sz="1110">
                <a:solidFill>
                  <a:srgbClr val="17202A"/>
                </a:solidFill>
              </a:rPr>
              <a:t>sign-off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Makes an </a:t>
            </a:r>
            <a:r>
              <a:rPr lang="en-US" sz="1110" dirty="0">
                <a:solidFill>
                  <a:srgbClr val="17202A"/>
                </a:solidFill>
              </a:rPr>
              <a:t>editable PPTX</a:t>
            </a:r>
            <a:r>
              <a:rPr lang="en-US" sz="1110">
                <a:solidFill>
                  <a:srgbClr val="17202A"/>
                </a:solidFill>
              </a:rPr>
              <a:t> — real text and shapes, not images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Checks </a:t>
            </a:r>
            <a:r>
              <a:rPr lang="en-US" sz="1110" dirty="0">
                <a:solidFill>
                  <a:srgbClr val="17202A"/>
                </a:solidFill>
              </a:rPr>
              <a:t>content and </a:t>
            </a:r>
            <a:r>
              <a:rPr lang="en-US" sz="1110">
                <a:solidFill>
                  <a:srgbClr val="17202A"/>
                </a:solidFill>
              </a:rPr>
              <a:t>layout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Waits </a:t>
            </a:r>
            <a:r>
              <a:rPr lang="en-US" sz="1110" dirty="0">
                <a:solidFill>
                  <a:srgbClr val="17202A"/>
                </a:solidFill>
              </a:rPr>
              <a:t>for final </a:t>
            </a:r>
            <a:r>
              <a:rPr lang="en-US" sz="1110">
                <a:solidFill>
                  <a:srgbClr val="17202A"/>
                </a:solidFill>
              </a:rPr>
              <a:t>sign-off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61688" y="1188720"/>
            <a:ext cx="347472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 • PACKAGE ASSETS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GSK-approved </a:t>
            </a:r>
            <a:r>
              <a:rPr lang="en-US" sz="1110">
                <a:solidFill>
                  <a:srgbClr val="17202A"/>
                </a:solidFill>
              </a:rPr>
              <a:t>deck </a:t>
            </a:r>
            <a:r>
              <a:rPr lang="en-US" sz="1110" dirty="0">
                <a:solidFill>
                  <a:srgbClr val="17202A"/>
                </a:solidFill>
              </a:rPr>
              <a:t>template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Story </a:t>
            </a:r>
            <a:r>
              <a:rPr lang="en-US" sz="1110" dirty="0">
                <a:solidFill>
                  <a:srgbClr val="17202A"/>
                </a:solidFill>
              </a:rPr>
              <a:t>and agenda patterns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Layouts for design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plans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Speaker-note </a:t>
            </a:r>
            <a:r>
              <a:rPr lang="en-US" sz="1110">
                <a:solidFill>
                  <a:srgbClr val="17202A"/>
                </a:solidFill>
              </a:rPr>
              <a:t>tips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Deck-building </a:t>
            </a:r>
            <a:r>
              <a:rPr lang="en-US" sz="1110" dirty="0">
                <a:solidFill>
                  <a:srgbClr val="17202A"/>
                </a:solidFill>
              </a:rPr>
              <a:t>scripts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Checks on clarity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layout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Sample PRD and expected deck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Independent and A→B tests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083296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83296" y="1188720"/>
            <a:ext cx="347472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7888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 • DECK 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Executive summary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Problem, objective and scope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Users and journeys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Solution overview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Design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how it flows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Benefits and </a:t>
            </a:r>
            <a:r>
              <a:rPr lang="en-US" sz="1110">
                <a:solidFill>
                  <a:srgbClr val="17202A"/>
                </a:solidFill>
              </a:rPr>
              <a:t>results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Plan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timeline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Risks and decisions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Next steps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Skill C: Prototype Factory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Once the design is agreed, it builds </a:t>
            </a:r>
            <a:r>
              <a:rPr lang="en-US" sz="1150" dirty="0">
                <a:solidFill>
                  <a:srgbClr val="5B6775"/>
                </a:solidFill>
              </a:rPr>
              <a:t>and </a:t>
            </a:r>
            <a:r>
              <a:rPr lang="en-US" sz="1150">
                <a:solidFill>
                  <a:srgbClr val="5B6775"/>
                </a:solidFill>
              </a:rPr>
              <a:t>tests an app you can run </a:t>
            </a:r>
            <a:r>
              <a:rPr lang="en-US" sz="1150" dirty="0">
                <a:solidFill>
                  <a:srgbClr val="5B6775"/>
                </a:solidFill>
              </a:rPr>
              <a:t>locally.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74720" cy="43891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 • SKILL.md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Start it to build a </a:t>
            </a:r>
            <a:r>
              <a:rPr lang="en-US" sz="1110" dirty="0">
                <a:solidFill>
                  <a:srgbClr val="17202A"/>
                </a:solidFill>
              </a:rPr>
              <a:t>prototype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Reads any valid </a:t>
            </a:r>
            <a:r>
              <a:rPr lang="en-US" sz="1110" dirty="0">
                <a:solidFill>
                  <a:srgbClr val="17202A"/>
                </a:solidFill>
              </a:rPr>
              <a:t>PRD</a:t>
            </a:r>
            <a:r>
              <a:rPr lang="en-US" sz="1110">
                <a:solidFill>
                  <a:srgbClr val="17202A"/>
                </a:solidFill>
              </a:rPr>
              <a:t>; does not need Skill A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Spots </a:t>
            </a:r>
            <a:r>
              <a:rPr lang="en-US" sz="1110" dirty="0">
                <a:solidFill>
                  <a:srgbClr val="17202A"/>
                </a:solidFill>
              </a:rPr>
              <a:t>missing </a:t>
            </a:r>
            <a:r>
              <a:rPr lang="en-US" sz="1110">
                <a:solidFill>
                  <a:srgbClr val="17202A"/>
                </a:solidFill>
              </a:rPr>
              <a:t>design choices and gaps in inputs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Asks </a:t>
            </a:r>
            <a:r>
              <a:rPr lang="en-US" sz="1110" dirty="0">
                <a:solidFill>
                  <a:srgbClr val="17202A"/>
                </a:solidFill>
              </a:rPr>
              <a:t>about screens, </a:t>
            </a:r>
            <a:r>
              <a:rPr lang="en-US" sz="1110">
                <a:solidFill>
                  <a:srgbClr val="17202A"/>
                </a:solidFill>
              </a:rPr>
              <a:t>steps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tech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Stops </a:t>
            </a:r>
            <a:r>
              <a:rPr lang="en-US" sz="1110" dirty="0">
                <a:solidFill>
                  <a:srgbClr val="17202A"/>
                </a:solidFill>
              </a:rPr>
              <a:t>for design </a:t>
            </a:r>
            <a:r>
              <a:rPr lang="en-US" sz="1110">
                <a:solidFill>
                  <a:srgbClr val="17202A"/>
                </a:solidFill>
              </a:rPr>
              <a:t>sign-off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Writes Prototype/index.html with</a:t>
            </a:r>
            <a:r>
              <a:rPr lang="en-US" sz="1110" dirty="0">
                <a:solidFill>
                  <a:srgbClr val="17202A"/>
                </a:solidFill>
              </a:rPr>
              <a:t> CSS and JavaScript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Runs </a:t>
            </a:r>
            <a:r>
              <a:rPr lang="en-US" sz="1110" dirty="0">
                <a:solidFill>
                  <a:srgbClr val="17202A"/>
                </a:solidFill>
              </a:rPr>
              <a:t>local checks and </a:t>
            </a:r>
            <a:r>
              <a:rPr lang="en-US" sz="1110">
                <a:solidFill>
                  <a:srgbClr val="17202A"/>
                </a:solidFill>
              </a:rPr>
              <a:t>agreed </a:t>
            </a:r>
            <a:r>
              <a:rPr lang="en-US" sz="1110" dirty="0">
                <a:solidFill>
                  <a:srgbClr val="17202A"/>
                </a:solidFill>
              </a:rPr>
              <a:t>tests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Stops </a:t>
            </a:r>
            <a:r>
              <a:rPr lang="en-US" sz="1110" dirty="0">
                <a:solidFill>
                  <a:srgbClr val="17202A"/>
                </a:solidFill>
              </a:rPr>
              <a:t>for </a:t>
            </a:r>
            <a:r>
              <a:rPr lang="en-US" sz="1110">
                <a:solidFill>
                  <a:srgbClr val="17202A"/>
                </a:solidFill>
              </a:rPr>
              <a:t>last </a:t>
            </a:r>
            <a:r>
              <a:rPr lang="en-US" sz="1110" dirty="0">
                <a:solidFill>
                  <a:srgbClr val="17202A"/>
                </a:solidFill>
              </a:rPr>
              <a:t>prototype </a:t>
            </a:r>
            <a:r>
              <a:rPr lang="en-US" sz="1110">
                <a:solidFill>
                  <a:srgbClr val="17202A"/>
                </a:solidFill>
              </a:rPr>
              <a:t>sign-off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61688" y="1188720"/>
            <a:ext cx="3474720" cy="43891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 • PACKAGE ASSETS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HTML/CSS/JavaScript templates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Re-usable screen parts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Fake-data examples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How to </a:t>
            </a:r>
            <a:r>
              <a:rPr lang="en-US" sz="1110" dirty="0">
                <a:solidFill>
                  <a:srgbClr val="17202A"/>
                </a:solidFill>
              </a:rPr>
              <a:t>run </a:t>
            </a:r>
            <a:r>
              <a:rPr lang="en-US" sz="1110">
                <a:solidFill>
                  <a:srgbClr val="17202A"/>
                </a:solidFill>
              </a:rPr>
              <a:t>it locally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Code-writing </a:t>
            </a:r>
            <a:r>
              <a:rPr lang="en-US" sz="1110" dirty="0">
                <a:solidFill>
                  <a:srgbClr val="17202A"/>
                </a:solidFill>
              </a:rPr>
              <a:t>helpers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Checking </a:t>
            </a:r>
            <a:r>
              <a:rPr lang="en-US" sz="1110" dirty="0">
                <a:solidFill>
                  <a:srgbClr val="17202A"/>
                </a:solidFill>
              </a:rPr>
              <a:t>and error scripts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 sample </a:t>
            </a:r>
            <a:r>
              <a:rPr lang="en-US" sz="1110" dirty="0">
                <a:solidFill>
                  <a:srgbClr val="17202A"/>
                </a:solidFill>
              </a:rPr>
              <a:t>PRD and prototype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Independent and A→C tests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083296" y="118872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83296" y="1188720"/>
            <a:ext cx="3474720" cy="43891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7888" y="130759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 • PROTOTYPE 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810512"/>
            <a:ext cx="303580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Screen </a:t>
            </a:r>
            <a:r>
              <a:rPr lang="en-US" sz="1110">
                <a:solidFill>
                  <a:srgbClr val="17202A"/>
                </a:solidFill>
              </a:rPr>
              <a:t>layout </a:t>
            </a:r>
            <a:r>
              <a:rPr lang="en-US" sz="1110" dirty="0">
                <a:solidFill>
                  <a:srgbClr val="17202A"/>
                </a:solidFill>
              </a:rPr>
              <a:t>and navigation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Agreed </a:t>
            </a:r>
            <a:r>
              <a:rPr lang="en-US" sz="1110" dirty="0">
                <a:solidFill>
                  <a:srgbClr val="17202A"/>
                </a:solidFill>
              </a:rPr>
              <a:t>user journeys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Things you can click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Simulated business steps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HTML, CSS and JavaScript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Fake </a:t>
            </a:r>
            <a:r>
              <a:rPr lang="en-US" sz="1110" dirty="0">
                <a:solidFill>
                  <a:srgbClr val="17202A"/>
                </a:solidFill>
              </a:rPr>
              <a:t>data </a:t>
            </a:r>
            <a:r>
              <a:rPr lang="en-US" sz="1110">
                <a:solidFill>
                  <a:srgbClr val="17202A"/>
                </a:solidFill>
              </a:rPr>
              <a:t>in </a:t>
            </a:r>
            <a:r>
              <a:rPr lang="en-US" sz="1110" dirty="0">
                <a:solidFill>
                  <a:srgbClr val="17202A"/>
                </a:solidFill>
              </a:rPr>
              <a:t>local </a:t>
            </a:r>
            <a:r>
              <a:rPr lang="en-US" sz="1110">
                <a:solidFill>
                  <a:srgbClr val="17202A"/>
                </a:solidFill>
              </a:rPr>
              <a:t>files — no backend or internet needed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README and </a:t>
            </a:r>
            <a:r>
              <a:rPr lang="en-US" sz="1110">
                <a:solidFill>
                  <a:srgbClr val="17202A"/>
                </a:solidFill>
              </a:rPr>
              <a:t>how to </a:t>
            </a:r>
            <a:r>
              <a:rPr lang="en-US" sz="1110" dirty="0">
                <a:solidFill>
                  <a:srgbClr val="17202A"/>
                </a:solidFill>
              </a:rPr>
              <a:t>run </a:t>
            </a:r>
            <a:r>
              <a:rPr lang="en-US" sz="1110">
                <a:solidFill>
                  <a:srgbClr val="17202A"/>
                </a:solidFill>
              </a:rPr>
              <a:t>it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Check</a:t>
            </a:r>
            <a:r>
              <a:rPr lang="en-US" sz="1110" dirty="0">
                <a:solidFill>
                  <a:srgbClr val="17202A"/>
                </a:solidFill>
              </a:rPr>
              <a:t> report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B2D4F"/>
                </a:solidFill>
              </a:rPr>
              <a:t>Where people check the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</a:rPr>
              <a:t>The Skill drafts and </a:t>
            </a:r>
            <a:r>
              <a:rPr lang="en-US" sz="1150">
                <a:solidFill>
                  <a:srgbClr val="5B6775"/>
                </a:solidFill>
              </a:rPr>
              <a:t>suggests</a:t>
            </a:r>
            <a:r>
              <a:rPr lang="en-US" sz="1150" dirty="0">
                <a:solidFill>
                  <a:srgbClr val="5B6775"/>
                </a:solidFill>
              </a:rPr>
              <a:t>. </a:t>
            </a:r>
            <a:r>
              <a:rPr lang="en-US" sz="1150">
                <a:solidFill>
                  <a:srgbClr val="5B6775"/>
                </a:solidFill>
              </a:rPr>
              <a:t>You decide </a:t>
            </a:r>
            <a:r>
              <a:rPr lang="en-US" sz="1150" dirty="0">
                <a:solidFill>
                  <a:srgbClr val="5B6775"/>
                </a:solidFill>
              </a:rPr>
              <a:t>and </a:t>
            </a:r>
            <a:r>
              <a:rPr lang="en-US" sz="1150">
                <a:solidFill>
                  <a:srgbClr val="5B6775"/>
                </a:solidFill>
              </a:rPr>
              <a:t>own </a:t>
            </a:r>
            <a:r>
              <a:rPr lang="en-US" sz="1150" dirty="0">
                <a:solidFill>
                  <a:srgbClr val="5B6775"/>
                </a:solidFill>
              </a:rPr>
              <a:t>the </a:t>
            </a:r>
            <a:r>
              <a:rPr lang="en-US" sz="1150">
                <a:solidFill>
                  <a:srgbClr val="5B6775"/>
                </a:solidFill>
              </a:rPr>
              <a:t>outcome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r>
              <a:rPr lang="en-US" sz="1150">
                <a:solidFill>
                  <a:srgbClr val="5B6775"/>
                </a:solidFill>
              </a:rPr>
              <a:t> Every Skill stops three times: on scope, before it builds, and after it builds.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16736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417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28016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4264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42646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The Skill </a:t>
            </a:r>
            <a:r>
              <a:rPr lang="en-US" sz="1160">
                <a:solidFill>
                  <a:srgbClr val="17202A"/>
                </a:solidFill>
              </a:rPr>
              <a:t>flags what is </a:t>
            </a:r>
            <a:r>
              <a:rPr lang="en-US" sz="1160" dirty="0">
                <a:solidFill>
                  <a:srgbClr val="17202A"/>
                </a:solidFill>
              </a:rPr>
              <a:t>missing and asks </a:t>
            </a:r>
            <a:r>
              <a:rPr lang="en-US" sz="1160">
                <a:solidFill>
                  <a:srgbClr val="17202A"/>
                </a:solidFill>
              </a:rPr>
              <a:t>clear</a:t>
            </a:r>
            <a:r>
              <a:rPr lang="en-US" sz="1160" dirty="0">
                <a:solidFill>
                  <a:srgbClr val="17202A"/>
                </a:solidFill>
              </a:rPr>
              <a:t> questions.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85800" y="2093976"/>
            <a:ext cx="384048" cy="384048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219456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205740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2203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Draft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20370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The Skill </a:t>
            </a:r>
            <a:r>
              <a:rPr lang="en-US" sz="1160">
                <a:solidFill>
                  <a:srgbClr val="17202A"/>
                </a:solidFill>
              </a:rPr>
              <a:t>writes </a:t>
            </a:r>
            <a:r>
              <a:rPr lang="en-US" sz="1160" dirty="0">
                <a:solidFill>
                  <a:srgbClr val="17202A"/>
                </a:solidFill>
              </a:rPr>
              <a:t>a draft and </a:t>
            </a:r>
            <a:r>
              <a:rPr lang="en-US" sz="1160">
                <a:solidFill>
                  <a:srgbClr val="17202A"/>
                </a:solidFill>
              </a:rPr>
              <a:t>flags guesses</a:t>
            </a:r>
            <a:r>
              <a:rPr lang="en-US" sz="1160" dirty="0">
                <a:solidFill>
                  <a:srgbClr val="17202A"/>
                </a:solidFill>
              </a:rPr>
              <a:t>, open </a:t>
            </a:r>
            <a:r>
              <a:rPr lang="en-US" sz="1160">
                <a:solidFill>
                  <a:srgbClr val="17202A"/>
                </a:solidFill>
              </a:rPr>
              <a:t>points </a:t>
            </a:r>
            <a:r>
              <a:rPr lang="en-US" sz="1160" dirty="0">
                <a:solidFill>
                  <a:srgbClr val="17202A"/>
                </a:solidFill>
              </a:rPr>
              <a:t>and </a:t>
            </a:r>
            <a:r>
              <a:rPr lang="en-US" sz="1160">
                <a:solidFill>
                  <a:srgbClr val="17202A"/>
                </a:solidFill>
              </a:rPr>
              <a:t>choices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5800" y="2871216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2971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83464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29809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98094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You choose</a:t>
            </a:r>
            <a:r>
              <a:rPr lang="en-US" sz="1160" dirty="0">
                <a:solidFill>
                  <a:srgbClr val="17202A"/>
                </a:solidFill>
              </a:rPr>
              <a:t> Approve, Request Changes, Reject or Cancel.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85800" y="364845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" y="37490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361188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3758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Record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75818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The </a:t>
            </a:r>
            <a:r>
              <a:rPr lang="en-US" sz="1160" dirty="0">
                <a:solidFill>
                  <a:srgbClr val="17202A"/>
                </a:solidFill>
              </a:rPr>
              <a:t>decision, comments and </a:t>
            </a:r>
            <a:r>
              <a:rPr lang="en-US" sz="1160">
                <a:solidFill>
                  <a:srgbClr val="17202A"/>
                </a:solidFill>
              </a:rPr>
              <a:t>file location </a:t>
            </a:r>
            <a:r>
              <a:rPr lang="en-US" sz="1160" dirty="0">
                <a:solidFill>
                  <a:srgbClr val="17202A"/>
                </a:solidFill>
              </a:rPr>
              <a:t>are </a:t>
            </a:r>
            <a:r>
              <a:rPr lang="en-US" sz="1160">
                <a:solidFill>
                  <a:srgbClr val="17202A"/>
                </a:solidFill>
              </a:rPr>
              <a:t>saved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r>
              <a:rPr lang="en-US" sz="1160">
                <a:solidFill>
                  <a:srgbClr val="17202A"/>
                </a:solidFill>
              </a:rPr>
              <a:t> Reject or Cancel leaves your files untouched.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45262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438912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4480" y="45354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Version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5354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The Skill </a:t>
            </a:r>
            <a:r>
              <a:rPr lang="en-US" sz="1160">
                <a:solidFill>
                  <a:srgbClr val="17202A"/>
                </a:solidFill>
              </a:rPr>
              <a:t>saves </a:t>
            </a:r>
            <a:r>
              <a:rPr lang="en-US" sz="1160" dirty="0">
                <a:solidFill>
                  <a:srgbClr val="17202A"/>
                </a:solidFill>
              </a:rPr>
              <a:t>a new version or </a:t>
            </a:r>
            <a:r>
              <a:rPr lang="en-US" sz="1160">
                <a:solidFill>
                  <a:srgbClr val="17202A"/>
                </a:solidFill>
              </a:rPr>
              <a:t>shows the changes</a:t>
            </a:r>
            <a:r>
              <a:rPr lang="en-US" sz="1160" dirty="0">
                <a:solidFill>
                  <a:srgbClr val="17202A"/>
                </a:solidFill>
              </a:rPr>
              <a:t>; </a:t>
            </a:r>
            <a:r>
              <a:rPr lang="en-US" sz="1160">
                <a:solidFill>
                  <a:srgbClr val="17202A"/>
                </a:solidFill>
              </a:rPr>
              <a:t>nothing is overwritten quietly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1005840" y="5349240"/>
            <a:ext cx="10149840" cy="64008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1600" y="555955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4C93"/>
                </a:solidFill>
              </a:rPr>
              <a:t>Mandatory: a Skill must </a:t>
            </a:r>
            <a:r>
              <a:rPr lang="en-US" sz="1400" b="1">
                <a:solidFill>
                  <a:srgbClr val="6A4C93"/>
                </a:solidFill>
              </a:rPr>
              <a:t>never go past an </a:t>
            </a:r>
            <a:r>
              <a:rPr lang="en-US" sz="1400" b="1" dirty="0">
                <a:solidFill>
                  <a:srgbClr val="6A4C93"/>
                </a:solidFill>
              </a:rPr>
              <a:t>approval checkpoint without </a:t>
            </a:r>
            <a:r>
              <a:rPr lang="en-US" sz="1400" b="1">
                <a:solidFill>
                  <a:srgbClr val="6A4C93"/>
                </a:solidFill>
              </a:rPr>
              <a:t>your clear go-ahead</a:t>
            </a:r>
            <a:r>
              <a:rPr lang="en-US" sz="1400" b="1" dirty="0">
                <a:solidFill>
                  <a:srgbClr val="6A4C93"/>
                </a:solidFill>
              </a:rPr>
              <a:t>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B2D4F"/>
                </a:solidFill>
              </a:rPr>
              <a:t>Files drive the work</a:t>
            </a:r>
            <a:r>
              <a:rPr lang="en-US" sz="2500" b="1" dirty="0">
                <a:solidFill>
                  <a:srgbClr val="0B2D4F"/>
                </a:solidFill>
              </a:rPr>
              <a:t> and recovery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</a:rPr>
              <a:t>Files </a:t>
            </a:r>
            <a:r>
              <a:rPr lang="en-US" sz="1150">
                <a:solidFill>
                  <a:srgbClr val="5B6775"/>
                </a:solidFill>
              </a:rPr>
              <a:t>link </a:t>
            </a:r>
            <a:r>
              <a:rPr lang="en-US" sz="1150" dirty="0">
                <a:solidFill>
                  <a:srgbClr val="5B6775"/>
                </a:solidFill>
              </a:rPr>
              <a:t>the </a:t>
            </a:r>
            <a:r>
              <a:rPr lang="en-US" sz="1150">
                <a:solidFill>
                  <a:srgbClr val="5B6775"/>
                </a:solidFill>
              </a:rPr>
              <a:t>steps </a:t>
            </a:r>
            <a:r>
              <a:rPr lang="en-US" sz="1150" dirty="0">
                <a:solidFill>
                  <a:srgbClr val="5B6775"/>
                </a:solidFill>
              </a:rPr>
              <a:t>and </a:t>
            </a:r>
            <a:r>
              <a:rPr lang="en-US" sz="1150">
                <a:solidFill>
                  <a:srgbClr val="5B6775"/>
                </a:solidFill>
              </a:rPr>
              <a:t>keep the current</a:t>
            </a:r>
            <a:r>
              <a:rPr lang="en-US" sz="1150" dirty="0">
                <a:solidFill>
                  <a:srgbClr val="5B6775"/>
                </a:solidFill>
              </a:rPr>
              <a:t> state.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7548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4754880" cy="43891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 WORKSPACE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431596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inputs/project-idea.md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requirements/PRD-v1.0.md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presentation/Presentation-v1.0.pptx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prototype/index.html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approvals/  </a:t>
            </a:r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run-records/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logs/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test-results/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docs/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5669280" y="1188720"/>
            <a:ext cx="58521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5852160" cy="43891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33872" y="1307592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WORKSPACE RULES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88736" y="1810512"/>
            <a:ext cx="5413248" cy="4123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Use </a:t>
            </a:r>
            <a:r>
              <a:rPr lang="en-US" sz="1110">
                <a:solidFill>
                  <a:srgbClr val="17202A"/>
                </a:solidFill>
              </a:rPr>
              <a:t>set folder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file names every time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Never </a:t>
            </a:r>
            <a:r>
              <a:rPr lang="en-US" sz="1110" dirty="0">
                <a:solidFill>
                  <a:srgbClr val="17202A"/>
                </a:solidFill>
              </a:rPr>
              <a:t>overwrite existing files by default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Ask first</a:t>
            </a:r>
            <a:r>
              <a:rPr lang="en-US" sz="1110" dirty="0">
                <a:solidFill>
                  <a:srgbClr val="17202A"/>
                </a:solidFill>
              </a:rPr>
              <a:t>, </a:t>
            </a:r>
            <a:r>
              <a:rPr lang="en-US" sz="1110">
                <a:solidFill>
                  <a:srgbClr val="17202A"/>
                </a:solidFill>
              </a:rPr>
              <a:t>save </a:t>
            </a:r>
            <a:r>
              <a:rPr lang="en-US" sz="1110" dirty="0">
                <a:solidFill>
                  <a:srgbClr val="17202A"/>
                </a:solidFill>
              </a:rPr>
              <a:t>a new version or </a:t>
            </a:r>
            <a:r>
              <a:rPr lang="en-US" sz="1110">
                <a:solidFill>
                  <a:srgbClr val="17202A"/>
                </a:solidFill>
              </a:rPr>
              <a:t>show the changes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Keep </a:t>
            </a:r>
            <a:r>
              <a:rPr lang="en-US" sz="1110">
                <a:solidFill>
                  <a:srgbClr val="17202A"/>
                </a:solidFill>
              </a:rPr>
              <a:t>work-in-progress files so work can restart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Restart from the files after a stop or crash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Keep </a:t>
            </a:r>
            <a:r>
              <a:rPr lang="en-US" sz="1110">
                <a:solidFill>
                  <a:srgbClr val="17202A"/>
                </a:solidFill>
              </a:rPr>
              <a:t>docs </a:t>
            </a:r>
            <a:r>
              <a:rPr lang="en-US" sz="1110" dirty="0">
                <a:solidFill>
                  <a:srgbClr val="17202A"/>
                </a:solidFill>
              </a:rPr>
              <a:t>and code </a:t>
            </a:r>
            <a:r>
              <a:rPr lang="en-US" sz="1110">
                <a:solidFill>
                  <a:srgbClr val="17202A"/>
                </a:solidFill>
              </a:rPr>
              <a:t>easy to open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edit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Log </a:t>
            </a:r>
            <a:r>
              <a:rPr lang="en-US" sz="1110" dirty="0">
                <a:solidFill>
                  <a:srgbClr val="17202A"/>
                </a:solidFill>
              </a:rPr>
              <a:t>Skill version, stage, inputs, outputs, </a:t>
            </a:r>
            <a:r>
              <a:rPr lang="en-US" sz="1110">
                <a:solidFill>
                  <a:srgbClr val="17202A"/>
                </a:solidFill>
              </a:rPr>
              <a:t>sign-offs</a:t>
            </a:r>
            <a:r>
              <a:rPr lang="en-US" sz="1110" dirty="0">
                <a:solidFill>
                  <a:srgbClr val="17202A"/>
                </a:solidFill>
              </a:rPr>
              <a:t> and errors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Non-functional requirements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We meet all </a:t>
            </a:r>
            <a:r>
              <a:rPr lang="en-US" sz="1150" dirty="0">
                <a:solidFill>
                  <a:srgbClr val="5B6775"/>
                </a:solidFill>
              </a:rPr>
              <a:t>five </a:t>
            </a:r>
            <a:r>
              <a:rPr lang="en-US" sz="1150">
                <a:solidFill>
                  <a:srgbClr val="5B6775"/>
                </a:solidFill>
              </a:rPr>
              <a:t>needs</a:t>
            </a:r>
            <a:r>
              <a:rPr lang="en-US" sz="1150" dirty="0">
                <a:solidFill>
                  <a:srgbClr val="5B6775"/>
                </a:solidFill>
              </a:rPr>
              <a:t> without adding a separate platform.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2900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COMPATIBILITY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List </a:t>
            </a:r>
            <a:r>
              <a:rPr lang="en-US" sz="1110" dirty="0">
                <a:solidFill>
                  <a:srgbClr val="17202A"/>
                </a:solidFill>
              </a:rPr>
              <a:t>and test </a:t>
            </a:r>
            <a:r>
              <a:rPr lang="en-US" sz="1110">
                <a:solidFill>
                  <a:srgbClr val="17202A"/>
                </a:solidFill>
              </a:rPr>
              <a:t>the </a:t>
            </a:r>
            <a:r>
              <a:rPr lang="en-US" sz="1110" dirty="0">
                <a:solidFill>
                  <a:srgbClr val="17202A"/>
                </a:solidFill>
              </a:rPr>
              <a:t>host versions</a:t>
            </a:r>
            <a:r>
              <a:rPr lang="en-US" sz="1110">
                <a:solidFill>
                  <a:srgbClr val="17202A"/>
                </a:solidFill>
              </a:rPr>
              <a:t> we support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Ship a package per host </a:t>
            </a:r>
            <a:r>
              <a:rPr lang="en-US" sz="1110" dirty="0">
                <a:solidFill>
                  <a:srgbClr val="17202A"/>
                </a:solidFill>
              </a:rPr>
              <a:t>if </a:t>
            </a:r>
            <a:r>
              <a:rPr lang="en-US" sz="1110">
                <a:solidFill>
                  <a:srgbClr val="17202A"/>
                </a:solidFill>
              </a:rPr>
              <a:t>needed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Keep the same </a:t>
            </a:r>
            <a:r>
              <a:rPr lang="en-US" sz="1110" dirty="0">
                <a:solidFill>
                  <a:srgbClr val="17202A"/>
                </a:solidFill>
              </a:rPr>
              <a:t>behavior and contracts</a:t>
            </a:r>
            <a:r>
              <a:rPr lang="en-US" sz="1110">
                <a:solidFill>
                  <a:srgbClr val="17202A"/>
                </a:solidFill>
              </a:rPr>
              <a:t> everywhere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3429000" cy="438912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&amp; PRIVACY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18105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Least access to data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tools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You must say yes to </a:t>
            </a:r>
            <a:r>
              <a:rPr lang="en-US" sz="1110" dirty="0">
                <a:solidFill>
                  <a:srgbClr val="17202A"/>
                </a:solidFill>
              </a:rPr>
              <a:t>upload, network or search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No secrets or </a:t>
            </a:r>
            <a:r>
              <a:rPr lang="en-US" sz="1110">
                <a:solidFill>
                  <a:srgbClr val="17202A"/>
                </a:solidFill>
              </a:rPr>
              <a:t>private</a:t>
            </a:r>
            <a:r>
              <a:rPr lang="en-US" sz="1110" dirty="0">
                <a:solidFill>
                  <a:srgbClr val="17202A"/>
                </a:solidFill>
              </a:rPr>
              <a:t> data in logs, samples or code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429000" cy="43891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RELIABILITY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18105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Errors you can act on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Save points in long </a:t>
            </a:r>
            <a:r>
              <a:rPr lang="en-US" sz="1110" dirty="0">
                <a:solidFill>
                  <a:srgbClr val="17202A"/>
                </a:solidFill>
              </a:rPr>
              <a:t>workflows</a:t>
            </a:r>
            <a:r>
              <a:rPr lang="en-US" sz="1110">
                <a:solidFill>
                  <a:srgbClr val="17202A"/>
                </a:solidFill>
              </a:rPr>
              <a:t>; cancel safely at any step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No failure may </a:t>
            </a:r>
            <a:r>
              <a:rPr lang="en-US" sz="1110">
                <a:solidFill>
                  <a:srgbClr val="17202A"/>
                </a:solidFill>
              </a:rPr>
              <a:t>harm </a:t>
            </a:r>
            <a:r>
              <a:rPr lang="en-US" sz="1110" dirty="0">
                <a:solidFill>
                  <a:srgbClr val="17202A"/>
                </a:solidFill>
              </a:rPr>
              <a:t>or </a:t>
            </a:r>
            <a:r>
              <a:rPr lang="en-US" sz="1110">
                <a:solidFill>
                  <a:srgbClr val="17202A"/>
                </a:solidFill>
              </a:rPr>
              <a:t>quietly</a:t>
            </a:r>
            <a:r>
              <a:rPr lang="en-US" sz="1110" dirty="0">
                <a:solidFill>
                  <a:srgbClr val="17202A"/>
                </a:solidFill>
              </a:rPr>
              <a:t> overwrite files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2514600" y="37033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14600" y="3703320"/>
            <a:ext cx="34290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79192" y="38221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MAINTAINABILITY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34056" y="43251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Version </a:t>
            </a:r>
            <a:r>
              <a:rPr lang="en-US" sz="1110">
                <a:solidFill>
                  <a:srgbClr val="17202A"/>
                </a:solidFill>
              </a:rPr>
              <a:t>guides</a:t>
            </a:r>
            <a:r>
              <a:rPr lang="en-US" sz="1110" dirty="0">
                <a:solidFill>
                  <a:srgbClr val="17202A"/>
                </a:solidFill>
              </a:rPr>
              <a:t>, templates, scripts and tests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Nothing hard-coded to one project </a:t>
            </a:r>
            <a:r>
              <a:rPr lang="en-US" sz="1110" dirty="0">
                <a:solidFill>
                  <a:srgbClr val="17202A"/>
                </a:solidFill>
              </a:rPr>
              <a:t>or </a:t>
            </a:r>
            <a:r>
              <a:rPr lang="en-US" sz="1110">
                <a:solidFill>
                  <a:srgbClr val="17202A"/>
                </a:solidFill>
              </a:rPr>
              <a:t>vendor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Easy to add</a:t>
            </a:r>
            <a:r>
              <a:rPr lang="en-US" sz="1110" dirty="0">
                <a:solidFill>
                  <a:srgbClr val="17202A"/>
                </a:solidFill>
              </a:rPr>
              <a:t> questions, styles and stack templates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63640" y="37033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3429000" cy="43891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8221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3096" y="43251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Log </a:t>
            </a:r>
            <a:r>
              <a:rPr lang="en-US" sz="1110" dirty="0">
                <a:solidFill>
                  <a:srgbClr val="17202A"/>
                </a:solidFill>
              </a:rPr>
              <a:t>Skill/version, stage, paths, </a:t>
            </a:r>
            <a:r>
              <a:rPr lang="en-US" sz="1110">
                <a:solidFill>
                  <a:srgbClr val="17202A"/>
                </a:solidFill>
              </a:rPr>
              <a:t>approvals, </a:t>
            </a:r>
            <a:r>
              <a:rPr lang="en-US" sz="1110" dirty="0">
                <a:solidFill>
                  <a:srgbClr val="17202A"/>
                </a:solidFill>
              </a:rPr>
              <a:t>errors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Keep out </a:t>
            </a:r>
            <a:r>
              <a:rPr lang="en-US" sz="1110" dirty="0">
                <a:solidFill>
                  <a:srgbClr val="17202A"/>
                </a:solidFill>
              </a:rPr>
              <a:t>sensitive business </a:t>
            </a:r>
            <a:r>
              <a:rPr lang="en-US" sz="1110">
                <a:solidFill>
                  <a:srgbClr val="17202A"/>
                </a:solidFill>
              </a:rPr>
              <a:t>data we do not need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No separate monitoring </a:t>
            </a:r>
            <a:r>
              <a:rPr lang="en-US" sz="1110">
                <a:solidFill>
                  <a:srgbClr val="17202A"/>
                </a:solidFill>
              </a:rPr>
              <a:t>tool needed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B2D4F"/>
                </a:solidFill>
              </a:rPr>
              <a:t>Observability and traceability</a:t>
            </a:r>
            <a:endParaRPr lang="en-US" sz="250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We log and trace every Skill run, with no separate monitoring tool.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2900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RUN RECORD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Skill name and package version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Stage it ran and the time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Input and output file paths</a:t>
            </a:r>
            <a:endParaRPr lang="en-US" sz="111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3429000" cy="438912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APPROVAL TRAIL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608576" y="18105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Yes or no at each checkpoint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Who approved, the call, notes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New version or list of changes</a:t>
            </a:r>
            <a:endParaRPr lang="en-US" sz="111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429000" cy="43891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ERRORS AND RECOVERY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357616" y="18105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Errors, cancels and retries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Where it stopped and resumed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File clashes and the fixes</a:t>
            </a:r>
            <a:endParaRPr lang="en-US" sz="1110"/>
          </a:p>
        </p:txBody>
      </p:sp>
      <p:sp>
        <p:nvSpPr>
          <p:cNvPr id="16" name="Shape 14"/>
          <p:cNvSpPr/>
          <p:nvPr/>
        </p:nvSpPr>
        <p:spPr>
          <a:xfrm>
            <a:off x="2514600" y="37033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14600" y="3703320"/>
            <a:ext cx="34290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79192" y="38221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LOG HYGIENE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734056" y="43251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No secrets or private business data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Files you can read in the workspace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Telemetry is tunable or fully off</a:t>
            </a:r>
            <a:endParaRPr lang="en-US" sz="1110"/>
          </a:p>
        </p:txBody>
      </p:sp>
      <p:sp>
        <p:nvSpPr>
          <p:cNvPr id="20" name="Shape 18"/>
          <p:cNvSpPr/>
          <p:nvPr/>
        </p:nvSpPr>
        <p:spPr>
          <a:xfrm>
            <a:off x="6263640" y="37033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3429000" cy="43891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8221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TRACEABILITY EVIDENCE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483096" y="4325112"/>
            <a:ext cx="2990088" cy="1289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Map each need to design, code and tests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Test reports and sample outputs</a:t>
            </a:r>
            <a:endParaRPr lang="en-US" sz="1110"/>
          </a:p>
          <a:p>
            <a:pPr marL="0" indent="0">
              <a:buNone/>
            </a:pPr>
            <a:r>
              <a:rPr lang="en-US" sz="1110">
                <a:solidFill>
                  <a:srgbClr val="17202A"/>
                </a:solidFill>
              </a:rPr>
              <a:t>• No central monitoring tool in the MVP</a:t>
            </a:r>
            <a:endParaRPr lang="en-US" sz="111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Permissions, dependencies and security boundary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We keep this list</a:t>
            </a:r>
            <a:r>
              <a:rPr lang="en-US" sz="1150" dirty="0">
                <a:solidFill>
                  <a:srgbClr val="5B6775"/>
                </a:solidFill>
              </a:rPr>
              <a:t> for every Skill package.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290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42900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9903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Workspace read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901952"/>
            <a:ext cx="299008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Only approved inputs and references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462272" y="1280160"/>
            <a:ext cx="34290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2272" y="1280160"/>
            <a:ext cx="34290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139903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Workspace write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1901952"/>
            <a:ext cx="299008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New or versioned </a:t>
            </a:r>
            <a:r>
              <a:rPr lang="en-US" sz="1110">
                <a:solidFill>
                  <a:srgbClr val="17202A"/>
                </a:solidFill>
              </a:rPr>
              <a:t>files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284464" y="1280160"/>
            <a:ext cx="34290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84464" y="1280160"/>
            <a:ext cx="3429000" cy="43891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49056" y="139903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1901952"/>
            <a:ext cx="299008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Scripts that build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check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4290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3429000" cy="438912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54787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External network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" y="4050792"/>
            <a:ext cx="299008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Only </a:t>
            </a:r>
            <a:r>
              <a:rPr lang="en-US" sz="1110">
                <a:solidFill>
                  <a:srgbClr val="17202A"/>
                </a:solidFill>
              </a:rPr>
              <a:t>if the </a:t>
            </a:r>
            <a:r>
              <a:rPr lang="en-US" sz="1110" dirty="0">
                <a:solidFill>
                  <a:srgbClr val="17202A"/>
                </a:solidFill>
              </a:rPr>
              <a:t>user </a:t>
            </a:r>
            <a:r>
              <a:rPr lang="en-US" sz="1110">
                <a:solidFill>
                  <a:srgbClr val="17202A"/>
                </a:solidFill>
              </a:rPr>
              <a:t>says yes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4462272" y="3429000"/>
            <a:ext cx="34290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62272" y="3429000"/>
            <a:ext cx="3429000" cy="43891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6864" y="354787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Dependencies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81728" y="4050792"/>
            <a:ext cx="299008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Outside </a:t>
            </a:r>
            <a:r>
              <a:rPr lang="en-US" sz="1110" dirty="0">
                <a:solidFill>
                  <a:srgbClr val="17202A"/>
                </a:solidFill>
              </a:rPr>
              <a:t>packages and model calls</a:t>
            </a:r>
            <a:r>
              <a:rPr lang="en-US" sz="1110">
                <a:solidFill>
                  <a:srgbClr val="17202A"/>
                </a:solidFill>
              </a:rPr>
              <a:t>, with versions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8284464" y="3429000"/>
            <a:ext cx="34290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84464" y="3429000"/>
            <a:ext cx="3429000" cy="43891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49056" y="354787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Telemetry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0" y="4050792"/>
            <a:ext cx="2990088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Tunable </a:t>
            </a:r>
            <a:r>
              <a:rPr lang="en-US" sz="1110" dirty="0">
                <a:solidFill>
                  <a:srgbClr val="17202A"/>
                </a:solidFill>
              </a:rPr>
              <a:t>or </a:t>
            </a:r>
            <a:r>
              <a:rPr lang="en-US" sz="1110">
                <a:solidFill>
                  <a:srgbClr val="17202A"/>
                </a:solidFill>
              </a:rPr>
              <a:t>off</a:t>
            </a:r>
            <a:r>
              <a:rPr lang="en-US" sz="1110" dirty="0">
                <a:solidFill>
                  <a:srgbClr val="17202A"/>
                </a:solidFill>
              </a:rPr>
              <a:t>; </a:t>
            </a:r>
            <a:r>
              <a:rPr lang="en-US" sz="1110">
                <a:solidFill>
                  <a:srgbClr val="17202A"/>
                </a:solidFill>
              </a:rPr>
              <a:t>no </a:t>
            </a:r>
            <a:r>
              <a:rPr lang="en-US" sz="1110" dirty="0">
                <a:solidFill>
                  <a:srgbClr val="17202A"/>
                </a:solidFill>
              </a:rPr>
              <a:t>sensitive data</a:t>
            </a:r>
            <a:endParaRPr lang="en-US" sz="1110" dirty="0"/>
          </a:p>
        </p:txBody>
      </p:sp>
      <p:sp>
        <p:nvSpPr>
          <p:cNvPr id="28" name="Text 26"/>
          <p:cNvSpPr/>
          <p:nvPr/>
        </p:nvSpPr>
        <p:spPr>
          <a:xfrm>
            <a:off x="105156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D4F"/>
                </a:solidFill>
              </a:rPr>
              <a:t>Security boundary: </a:t>
            </a:r>
            <a:r>
              <a:rPr lang="en-US" sz="1500" b="1">
                <a:solidFill>
                  <a:srgbClr val="0B2D4F"/>
                </a:solidFill>
              </a:rPr>
              <a:t>user </a:t>
            </a:r>
            <a:r>
              <a:rPr lang="en-US" sz="1500" b="1" dirty="0">
                <a:solidFill>
                  <a:srgbClr val="0B2D4F"/>
                </a:solidFill>
              </a:rPr>
              <a:t>workspace → installed Skill package → approved host </a:t>
            </a:r>
            <a:r>
              <a:rPr lang="en-US" sz="1500" b="1">
                <a:solidFill>
                  <a:srgbClr val="0B2D4F"/>
                </a:solidFill>
              </a:rPr>
              <a:t>features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B2D4F"/>
                </a:solidFill>
              </a:rPr>
              <a:t>How we test </a:t>
            </a:r>
            <a:r>
              <a:rPr lang="en-US" sz="2500" b="1" dirty="0">
                <a:solidFill>
                  <a:srgbClr val="0B2D4F"/>
                </a:solidFill>
              </a:rPr>
              <a:t>and </a:t>
            </a:r>
            <a:r>
              <a:rPr lang="en-US" sz="2500" b="1">
                <a:solidFill>
                  <a:srgbClr val="0B2D4F"/>
                </a:solidFill>
              </a:rPr>
              <a:t>prove it works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We show proof that packages work</a:t>
            </a:r>
            <a:r>
              <a:rPr lang="en-US" sz="1150" dirty="0">
                <a:solidFill>
                  <a:srgbClr val="5B6775"/>
                </a:solidFill>
              </a:rPr>
              <a:t>, </a:t>
            </a:r>
            <a:r>
              <a:rPr lang="en-US" sz="1150">
                <a:solidFill>
                  <a:srgbClr val="5B6775"/>
                </a:solidFill>
              </a:rPr>
              <a:t>run in the hosts </a:t>
            </a:r>
            <a:r>
              <a:rPr lang="en-US" sz="1150" dirty="0">
                <a:solidFill>
                  <a:srgbClr val="5B6775"/>
                </a:solidFill>
              </a:rPr>
              <a:t>and </a:t>
            </a:r>
            <a:r>
              <a:rPr lang="en-US" sz="1150">
                <a:solidFill>
                  <a:srgbClr val="5B6775"/>
                </a:solidFill>
              </a:rPr>
              <a:t>deliver results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79576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28016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4300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2893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Package </a:t>
            </a:r>
            <a:r>
              <a:rPr lang="en-US" sz="1300" b="1">
                <a:solidFill>
                  <a:srgbClr val="0B2D4F"/>
                </a:solidFill>
              </a:rPr>
              <a:t>checks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28930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Needed </a:t>
            </a:r>
            <a:r>
              <a:rPr lang="en-US" sz="1160" dirty="0">
                <a:solidFill>
                  <a:srgbClr val="17202A"/>
                </a:solidFill>
              </a:rPr>
              <a:t>files, SKILL.md </a:t>
            </a:r>
            <a:r>
              <a:rPr lang="en-US" sz="1160">
                <a:solidFill>
                  <a:srgbClr val="17202A"/>
                </a:solidFill>
              </a:rPr>
              <a:t>layout </a:t>
            </a:r>
            <a:r>
              <a:rPr lang="en-US" sz="1160" dirty="0">
                <a:solidFill>
                  <a:srgbClr val="17202A"/>
                </a:solidFill>
              </a:rPr>
              <a:t>and </a:t>
            </a:r>
            <a:r>
              <a:rPr lang="en-US" sz="1160">
                <a:solidFill>
                  <a:srgbClr val="17202A"/>
                </a:solidFill>
              </a:rPr>
              <a:t>guides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85800" y="1911096"/>
            <a:ext cx="384048" cy="384048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20116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87452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20208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Contract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0208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Needed </a:t>
            </a:r>
            <a:r>
              <a:rPr lang="en-US" sz="1160" dirty="0">
                <a:solidFill>
                  <a:srgbClr val="17202A"/>
                </a:solidFill>
              </a:rPr>
              <a:t>inputs, </a:t>
            </a:r>
            <a:r>
              <a:rPr lang="en-US" sz="1160">
                <a:solidFill>
                  <a:srgbClr val="17202A"/>
                </a:solidFill>
              </a:rPr>
              <a:t>what happens if one is missing, </a:t>
            </a:r>
            <a:r>
              <a:rPr lang="en-US" sz="1160" dirty="0">
                <a:solidFill>
                  <a:srgbClr val="17202A"/>
                </a:solidFill>
              </a:rPr>
              <a:t>output </a:t>
            </a:r>
            <a:r>
              <a:rPr lang="en-US" sz="1160">
                <a:solidFill>
                  <a:srgbClr val="17202A"/>
                </a:solidFill>
              </a:rPr>
              <a:t>shape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5800" y="2642616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27432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60604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27523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Workflow tests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75234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Questions, </a:t>
            </a:r>
            <a:r>
              <a:rPr lang="en-US" sz="1160">
                <a:solidFill>
                  <a:srgbClr val="17202A"/>
                </a:solidFill>
              </a:rPr>
              <a:t>sign-offs</a:t>
            </a:r>
            <a:r>
              <a:rPr lang="en-US" sz="1160" dirty="0">
                <a:solidFill>
                  <a:srgbClr val="17202A"/>
                </a:solidFill>
              </a:rPr>
              <a:t>, </a:t>
            </a:r>
            <a:r>
              <a:rPr lang="en-US" sz="1160">
                <a:solidFill>
                  <a:srgbClr val="17202A"/>
                </a:solidFill>
              </a:rPr>
              <a:t>cancelling</a:t>
            </a:r>
            <a:r>
              <a:rPr lang="en-US" sz="1160" dirty="0">
                <a:solidFill>
                  <a:srgbClr val="17202A"/>
                </a:solidFill>
              </a:rPr>
              <a:t>, errors and recovery.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" y="34747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333756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34838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D4F"/>
                </a:solidFill>
              </a:rPr>
              <a:t>Output</a:t>
            </a:r>
            <a:r>
              <a:rPr lang="en-US" sz="1300" b="1" dirty="0">
                <a:solidFill>
                  <a:srgbClr val="0B2D4F"/>
                </a:solidFill>
              </a:rPr>
              <a:t> tests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48386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A full </a:t>
            </a:r>
            <a:r>
              <a:rPr lang="en-US" sz="1160" dirty="0">
                <a:solidFill>
                  <a:srgbClr val="17202A"/>
                </a:solidFill>
              </a:rPr>
              <a:t>PRD, </a:t>
            </a:r>
            <a:r>
              <a:rPr lang="en-US" sz="1160">
                <a:solidFill>
                  <a:srgbClr val="17202A"/>
                </a:solidFill>
              </a:rPr>
              <a:t>an </a:t>
            </a:r>
            <a:r>
              <a:rPr lang="en-US" sz="1160" dirty="0">
                <a:solidFill>
                  <a:srgbClr val="17202A"/>
                </a:solidFill>
              </a:rPr>
              <a:t>editable PPTX and </a:t>
            </a:r>
            <a:r>
              <a:rPr lang="en-US" sz="1160">
                <a:solidFill>
                  <a:srgbClr val="17202A"/>
                </a:solidFill>
              </a:rPr>
              <a:t>a prototype that runs </a:t>
            </a:r>
            <a:r>
              <a:rPr lang="en-US" sz="1160" dirty="0">
                <a:solidFill>
                  <a:srgbClr val="17202A"/>
                </a:solidFill>
              </a:rPr>
              <a:t>locally.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85800" y="4105656"/>
            <a:ext cx="384048" cy="384048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42062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406908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4480" y="4215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Host compatibility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21538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>
                <a:solidFill>
                  <a:srgbClr val="17202A"/>
                </a:solidFill>
              </a:rPr>
              <a:t>Installing </a:t>
            </a:r>
            <a:r>
              <a:rPr lang="en-US" sz="1160" dirty="0">
                <a:solidFill>
                  <a:srgbClr val="17202A"/>
                </a:solidFill>
              </a:rPr>
              <a:t>and </a:t>
            </a:r>
            <a:r>
              <a:rPr lang="en-US" sz="1160">
                <a:solidFill>
                  <a:srgbClr val="17202A"/>
                </a:solidFill>
              </a:rPr>
              <a:t>running </a:t>
            </a:r>
            <a:r>
              <a:rPr lang="en-US" sz="1160" dirty="0">
                <a:solidFill>
                  <a:srgbClr val="17202A"/>
                </a:solidFill>
              </a:rPr>
              <a:t>in </a:t>
            </a:r>
            <a:r>
              <a:rPr lang="en-US" sz="1160">
                <a:solidFill>
                  <a:srgbClr val="17202A"/>
                </a:solidFill>
              </a:rPr>
              <a:t>the </a:t>
            </a:r>
            <a:r>
              <a:rPr lang="en-US" sz="1160" dirty="0">
                <a:solidFill>
                  <a:srgbClr val="17202A"/>
                </a:solidFill>
              </a:rPr>
              <a:t>agreed Copilot / Claude </a:t>
            </a:r>
            <a:r>
              <a:rPr lang="en-US" sz="1160">
                <a:solidFill>
                  <a:srgbClr val="17202A"/>
                </a:solidFill>
              </a:rPr>
              <a:t>set-ups</a:t>
            </a:r>
            <a:r>
              <a:rPr lang="en-US" sz="1160" dirty="0">
                <a:solidFill>
                  <a:srgbClr val="17202A"/>
                </a:solidFill>
              </a:rPr>
              <a:t>.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85800" y="4837176"/>
            <a:ext cx="384048" cy="384048"/>
          </a:xfrm>
          <a:prstGeom prst="ellipse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6384" y="493776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0160" y="480060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54480" y="49469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End-to-end tests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494690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7202A"/>
                </a:solidFill>
              </a:rPr>
              <a:t>A, B and C independently, plus A→B and A→C.</a:t>
            </a:r>
            <a:endParaRPr lang="en-US" sz="1160" dirty="0"/>
          </a:p>
        </p:txBody>
      </p:sp>
      <p:sp>
        <p:nvSpPr>
          <p:cNvPr id="34" name="Text 32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4C93"/>
                </a:solidFill>
              </a:rPr>
              <a:t>Outputs: automated test reports, </a:t>
            </a:r>
            <a:r>
              <a:rPr lang="en-US" sz="1300" b="1">
                <a:solidFill>
                  <a:srgbClr val="6A4C93"/>
                </a:solidFill>
              </a:rPr>
              <a:t>samples</a:t>
            </a:r>
            <a:r>
              <a:rPr lang="en-US" sz="1300" b="1" dirty="0">
                <a:solidFill>
                  <a:srgbClr val="6A4C93"/>
                </a:solidFill>
              </a:rPr>
              <a:t>, </a:t>
            </a:r>
            <a:r>
              <a:rPr lang="en-US" sz="1300" b="1">
                <a:solidFill>
                  <a:srgbClr val="6A4C93"/>
                </a:solidFill>
              </a:rPr>
              <a:t>proof of approvals </a:t>
            </a:r>
            <a:r>
              <a:rPr lang="en-US" sz="1300" b="1" dirty="0">
                <a:solidFill>
                  <a:srgbClr val="6A4C93"/>
                </a:solidFill>
              </a:rPr>
              <a:t>and</a:t>
            </a:r>
            <a:r>
              <a:rPr lang="en-US" sz="1300" b="1">
                <a:solidFill>
                  <a:srgbClr val="6A4C93"/>
                </a:solidFill>
              </a:rPr>
              <a:t> a</a:t>
            </a:r>
            <a:r>
              <a:rPr lang="en-US" sz="1300" b="1" dirty="0">
                <a:solidFill>
                  <a:srgbClr val="6A4C93"/>
                </a:solidFill>
              </a:rPr>
              <a:t> requirements traceability matrix.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Final POC deliverables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775"/>
                </a:solidFill>
              </a:rPr>
              <a:t>Finished </a:t>
            </a:r>
            <a:r>
              <a:rPr lang="en-US" sz="1150" dirty="0">
                <a:solidFill>
                  <a:srgbClr val="5B6775"/>
                </a:solidFill>
              </a:rPr>
              <a:t>packages, quality </a:t>
            </a:r>
            <a:r>
              <a:rPr lang="en-US" sz="1150">
                <a:solidFill>
                  <a:srgbClr val="5B6775"/>
                </a:solidFill>
              </a:rPr>
              <a:t>proof </a:t>
            </a:r>
            <a:r>
              <a:rPr lang="en-US" sz="1150" dirty="0">
                <a:solidFill>
                  <a:srgbClr val="5B6775"/>
                </a:solidFill>
              </a:rPr>
              <a:t>and GSK </a:t>
            </a:r>
            <a:r>
              <a:rPr lang="en-US" sz="1150">
                <a:solidFill>
                  <a:srgbClr val="5B6775"/>
                </a:solidFill>
              </a:rPr>
              <a:t>ready to go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290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2900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 &amp; PACKAGES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810512"/>
            <a:ext cx="2990088" cy="3758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Complete source code for Skill A, B and C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Installable packages for agreed hosts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Templates, samples and </a:t>
            </a:r>
            <a:r>
              <a:rPr lang="en-US" sz="1110">
                <a:solidFill>
                  <a:srgbClr val="17202A"/>
                </a:solidFill>
              </a:rPr>
              <a:t>a demo</a:t>
            </a:r>
            <a:r>
              <a:rPr lang="en-US" sz="1110" dirty="0">
                <a:solidFill>
                  <a:srgbClr val="17202A"/>
                </a:solidFill>
              </a:rPr>
              <a:t> project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34290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3429000" cy="43891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DOCUMENTATION &amp;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1810512"/>
            <a:ext cx="2990088" cy="3758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Guides for install</a:t>
            </a:r>
            <a:r>
              <a:rPr lang="en-US" sz="1110" dirty="0">
                <a:solidFill>
                  <a:srgbClr val="17202A"/>
                </a:solidFill>
              </a:rPr>
              <a:t>, </a:t>
            </a:r>
            <a:r>
              <a:rPr lang="en-US" sz="1110">
                <a:solidFill>
                  <a:srgbClr val="17202A"/>
                </a:solidFill>
              </a:rPr>
              <a:t>set-up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daily use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Guides to extend </a:t>
            </a:r>
            <a:r>
              <a:rPr lang="en-US" sz="1110" dirty="0">
                <a:solidFill>
                  <a:srgbClr val="17202A"/>
                </a:solidFill>
              </a:rPr>
              <a:t>and </a:t>
            </a:r>
            <a:r>
              <a:rPr lang="en-US" sz="1110">
                <a:solidFill>
                  <a:srgbClr val="17202A"/>
                </a:solidFill>
              </a:rPr>
              <a:t>fix problems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Automated tests and reports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Traceability </a:t>
            </a:r>
            <a:r>
              <a:rPr lang="en-US" sz="1110" dirty="0">
                <a:solidFill>
                  <a:srgbClr val="17202A"/>
                </a:solidFill>
              </a:rPr>
              <a:t>matrix</a:t>
            </a:r>
            <a:r>
              <a:rPr lang="en-US" sz="1110">
                <a:solidFill>
                  <a:srgbClr val="17202A"/>
                </a:solidFill>
              </a:rPr>
              <a:t>: needs → design → code → tests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4290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34290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1307592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HANDOVER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1810512"/>
            <a:ext cx="2990088" cy="3758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Known </a:t>
            </a:r>
            <a:r>
              <a:rPr lang="en-US" sz="1110">
                <a:solidFill>
                  <a:srgbClr val="17202A"/>
                </a:solidFill>
              </a:rPr>
              <a:t>limits </a:t>
            </a:r>
            <a:r>
              <a:rPr lang="en-US" sz="1110" dirty="0">
                <a:solidFill>
                  <a:srgbClr val="17202A"/>
                </a:solidFill>
              </a:rPr>
              <a:t>and dependencies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Future roadmap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Knowledge transfer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Live </a:t>
            </a:r>
            <a:r>
              <a:rPr lang="en-US" sz="1110">
                <a:solidFill>
                  <a:srgbClr val="17202A"/>
                </a:solidFill>
              </a:rPr>
              <a:t>demo </a:t>
            </a:r>
            <a:r>
              <a:rPr lang="en-US" sz="1110" dirty="0">
                <a:solidFill>
                  <a:srgbClr val="17202A"/>
                </a:solidFill>
              </a:rPr>
              <a:t>for GSK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202A"/>
                </a:solidFill>
              </a:rPr>
              <a:t>• </a:t>
            </a:r>
            <a:r>
              <a:rPr lang="en-US" sz="1110">
                <a:solidFill>
                  <a:srgbClr val="17202A"/>
                </a:solidFill>
              </a:rPr>
              <a:t>Guidance on who runs it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</a:rPr>
              <a:t>A Skill is </a:t>
            </a:r>
            <a:r>
              <a:rPr lang="en-US" sz="1150">
                <a:solidFill>
                  <a:srgbClr val="5B6775"/>
                </a:solidFill>
              </a:rPr>
              <a:t>done </a:t>
            </a:r>
            <a:r>
              <a:rPr lang="en-US" sz="1150" dirty="0">
                <a:solidFill>
                  <a:srgbClr val="5B6775"/>
                </a:solidFill>
              </a:rPr>
              <a:t>only </a:t>
            </a:r>
            <a:r>
              <a:rPr lang="en-US" sz="1150">
                <a:solidFill>
                  <a:srgbClr val="5B6775"/>
                </a:solidFill>
              </a:rPr>
              <a:t>when every point </a:t>
            </a:r>
            <a:r>
              <a:rPr lang="en-US" sz="1150" dirty="0">
                <a:solidFill>
                  <a:srgbClr val="5B6775"/>
                </a:solidFill>
              </a:rPr>
              <a:t>below </a:t>
            </a:r>
            <a:r>
              <a:rPr lang="en-US" sz="1150">
                <a:solidFill>
                  <a:srgbClr val="5B6775"/>
                </a:solidFill>
              </a:rPr>
              <a:t>is true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99669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0972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96012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10642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Installs and </a:t>
            </a:r>
            <a:r>
              <a:rPr lang="en-US" sz="1300" b="1">
                <a:solidFill>
                  <a:srgbClr val="0B2D4F"/>
                </a:solidFill>
              </a:rPr>
              <a:t>runs </a:t>
            </a:r>
            <a:r>
              <a:rPr lang="en-US" sz="1300" b="1" dirty="0">
                <a:solidFill>
                  <a:srgbClr val="0B2D4F"/>
                </a:solidFill>
              </a:rPr>
              <a:t>in the agreed host </a:t>
            </a:r>
            <a:r>
              <a:rPr lang="en-US" sz="1300" b="1">
                <a:solidFill>
                  <a:srgbClr val="0B2D4F"/>
                </a:solidFill>
              </a:rPr>
              <a:t>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1064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16642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527048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167335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D4F"/>
                </a:solidFill>
              </a:rPr>
              <a:t>Runs </a:t>
            </a:r>
            <a:r>
              <a:rPr lang="en-US" sz="1300" b="1" dirty="0">
                <a:solidFill>
                  <a:srgbClr val="0B2D4F"/>
                </a:solidFill>
              </a:rPr>
              <a:t>the </a:t>
            </a:r>
            <a:r>
              <a:rPr lang="en-US" sz="1300" b="1">
                <a:solidFill>
                  <a:srgbClr val="0B2D4F"/>
                </a:solidFill>
              </a:rPr>
              <a:t>main </a:t>
            </a:r>
            <a:r>
              <a:rPr lang="en-US" sz="1300" b="1" dirty="0">
                <a:solidFill>
                  <a:srgbClr val="0B2D4F"/>
                </a:solidFill>
              </a:rPr>
              <a:t>workflow </a:t>
            </a:r>
            <a:r>
              <a:rPr lang="en-US" sz="1300" b="1">
                <a:solidFill>
                  <a:srgbClr val="0B2D4F"/>
                </a:solidFill>
              </a:rPr>
              <a:t>on its 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67335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5800" y="213055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223113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093976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22402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D4F"/>
                </a:solidFill>
              </a:rPr>
              <a:t>Creates real </a:t>
            </a:r>
            <a:r>
              <a:rPr lang="en-US" sz="1300" b="1" dirty="0">
                <a:solidFill>
                  <a:srgbClr val="0B2D4F"/>
                </a:solidFill>
              </a:rPr>
              <a:t>files </a:t>
            </a:r>
            <a:r>
              <a:rPr lang="en-US" sz="1300" b="1">
                <a:solidFill>
                  <a:srgbClr val="0B2D4F"/>
                </a:solidFill>
              </a:rPr>
              <a:t>that match</a:t>
            </a:r>
            <a:r>
              <a:rPr lang="en-US" sz="1300" b="1" dirty="0">
                <a:solidFill>
                  <a:srgbClr val="0B2D4F"/>
                </a:solidFill>
              </a:rPr>
              <a:t> the agreed contract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24028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" y="279806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2660904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28072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Required human </a:t>
            </a:r>
            <a:r>
              <a:rPr lang="en-US" sz="1300" b="1">
                <a:solidFill>
                  <a:srgbClr val="0B2D4F"/>
                </a:solidFill>
              </a:rPr>
              <a:t>sign-off points work</a:t>
            </a:r>
            <a:r>
              <a:rPr lang="en-US" sz="1300" b="1" dirty="0">
                <a:solidFill>
                  <a:srgbClr val="0B2D4F"/>
                </a:solidFill>
              </a:rPr>
              <a:t> as specified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280720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85800" y="326440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336499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3227832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4480" y="337413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D4F"/>
                </a:solidFill>
              </a:rPr>
              <a:t>Handles errors</a:t>
            </a:r>
            <a:r>
              <a:rPr lang="en-US" sz="1300" b="1" dirty="0">
                <a:solidFill>
                  <a:srgbClr val="0B2D4F"/>
                </a:solidFill>
              </a:rPr>
              <a:t>, </a:t>
            </a:r>
            <a:r>
              <a:rPr lang="en-US" sz="1300" b="1">
                <a:solidFill>
                  <a:srgbClr val="0B2D4F"/>
                </a:solidFill>
              </a:rPr>
              <a:t>cancelling</a:t>
            </a:r>
            <a:r>
              <a:rPr lang="en-US" sz="1300" b="1" dirty="0">
                <a:solidFill>
                  <a:srgbClr val="0B2D4F"/>
                </a:solidFill>
              </a:rPr>
              <a:t>, recovery and existing-file </a:t>
            </a:r>
            <a:r>
              <a:rPr lang="en-US" sz="1300" b="1">
                <a:solidFill>
                  <a:srgbClr val="0B2D4F"/>
                </a:solidFill>
              </a:rPr>
              <a:t>clashes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37413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85800" y="383133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6384" y="39319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0160" y="379476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54480" y="394106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Automated tests and end-to-end </a:t>
            </a:r>
            <a:r>
              <a:rPr lang="en-US" sz="1300" b="1">
                <a:solidFill>
                  <a:srgbClr val="0B2D4F"/>
                </a:solidFill>
              </a:rPr>
              <a:t>runs all</a:t>
            </a:r>
            <a:r>
              <a:rPr lang="en-US" sz="1300" b="1" dirty="0">
                <a:solidFill>
                  <a:srgbClr val="0B2D4F"/>
                </a:solidFill>
              </a:rPr>
              <a:t> pass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94106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685800" y="4398264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" y="449884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4361688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54480" y="450799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D4F"/>
                </a:solidFill>
              </a:rPr>
              <a:t>Files </a:t>
            </a:r>
            <a:r>
              <a:rPr lang="en-US" sz="1300" b="1" dirty="0">
                <a:solidFill>
                  <a:srgbClr val="0B2D4F"/>
                </a:solidFill>
              </a:rPr>
              <a:t>meet </a:t>
            </a:r>
            <a:r>
              <a:rPr lang="en-US" sz="1300" b="1">
                <a:solidFill>
                  <a:srgbClr val="0B2D4F"/>
                </a:solidFill>
              </a:rPr>
              <a:t>the </a:t>
            </a:r>
            <a:r>
              <a:rPr lang="en-US" sz="1300" b="1" dirty="0">
                <a:solidFill>
                  <a:srgbClr val="0B2D4F"/>
                </a:solidFill>
              </a:rPr>
              <a:t>content, format, </a:t>
            </a:r>
            <a:r>
              <a:rPr lang="en-US" sz="1300" b="1">
                <a:solidFill>
                  <a:srgbClr val="0B2D4F"/>
                </a:solidFill>
              </a:rPr>
              <a:t>ease-of-use</a:t>
            </a:r>
            <a:r>
              <a:rPr lang="en-US" sz="1300" b="1" dirty="0">
                <a:solidFill>
                  <a:srgbClr val="0B2D4F"/>
                </a:solidFill>
              </a:rPr>
              <a:t>, </a:t>
            </a:r>
            <a:r>
              <a:rPr lang="en-US" sz="1300" b="1">
                <a:solidFill>
                  <a:srgbClr val="0B2D4F"/>
                </a:solidFill>
              </a:rPr>
              <a:t>run </a:t>
            </a:r>
            <a:r>
              <a:rPr lang="en-US" sz="1300" b="1" dirty="0">
                <a:solidFill>
                  <a:srgbClr val="0B2D4F"/>
                </a:solidFill>
              </a:rPr>
              <a:t>and traceability </a:t>
            </a:r>
            <a:r>
              <a:rPr lang="en-US" sz="1300" b="1">
                <a:solidFill>
                  <a:srgbClr val="0B2D4F"/>
                </a:solidFill>
              </a:rPr>
              <a:t>rules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31920" y="45079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86384" y="506577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280160" y="4928616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554480" y="507492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2D4F"/>
                </a:solidFill>
              </a:rPr>
              <a:t>Docs let </a:t>
            </a:r>
            <a:r>
              <a:rPr lang="en-US" sz="1300" b="1" dirty="0">
                <a:solidFill>
                  <a:srgbClr val="0B2D4F"/>
                </a:solidFill>
              </a:rPr>
              <a:t>GSK install, </a:t>
            </a:r>
            <a:r>
              <a:rPr lang="en-US" sz="1300" b="1">
                <a:solidFill>
                  <a:srgbClr val="0B2D4F"/>
                </a:solidFill>
              </a:rPr>
              <a:t>run </a:t>
            </a:r>
            <a:r>
              <a:rPr lang="en-US" sz="1300" b="1" dirty="0">
                <a:solidFill>
                  <a:srgbClr val="0B2D4F"/>
                </a:solidFill>
              </a:rPr>
              <a:t>and maintain </a:t>
            </a:r>
            <a:r>
              <a:rPr lang="en-US" sz="1300" b="1">
                <a:solidFill>
                  <a:srgbClr val="0B2D4F"/>
                </a:solidFill>
              </a:rPr>
              <a:t>it with no </a:t>
            </a:r>
            <a:r>
              <a:rPr lang="en-US" sz="1300" b="1" dirty="0">
                <a:solidFill>
                  <a:srgbClr val="0B2D4F"/>
                </a:solidFill>
              </a:rPr>
              <a:t>vendor </a:t>
            </a:r>
            <a:r>
              <a:rPr lang="en-US" sz="1300" b="1">
                <a:solidFill>
                  <a:srgbClr val="0B2D4F"/>
                </a:solidFill>
              </a:rPr>
              <a:t>help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931920" y="507492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44" name="Shape 42"/>
          <p:cNvSpPr/>
          <p:nvPr/>
        </p:nvSpPr>
        <p:spPr>
          <a:xfrm>
            <a:off x="685800" y="553212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6384" y="563270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280160" y="5495544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554480" y="564184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No </a:t>
            </a:r>
            <a:r>
              <a:rPr lang="en-US" sz="1300" b="1">
                <a:solidFill>
                  <a:srgbClr val="0B2D4F"/>
                </a:solidFill>
              </a:rPr>
              <a:t>reliance </a:t>
            </a:r>
            <a:r>
              <a:rPr lang="en-US" sz="1300" b="1" dirty="0">
                <a:solidFill>
                  <a:srgbClr val="0B2D4F"/>
                </a:solidFill>
              </a:rPr>
              <a:t>on an unapproved UI, backend, orchestrator or </a:t>
            </a:r>
            <a:r>
              <a:rPr lang="en-US" sz="1300" b="1">
                <a:solidFill>
                  <a:srgbClr val="0B2D4F"/>
                </a:solidFill>
              </a:rPr>
              <a:t>vendor-only</a:t>
            </a:r>
            <a:r>
              <a:rPr lang="en-US" sz="1300" b="1" dirty="0">
                <a:solidFill>
                  <a:srgbClr val="0B2D4F"/>
                </a:solidFill>
              </a:rPr>
              <a:t> service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931920" y="564184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49" name="Text 47"/>
          <p:cNvSpPr/>
          <p:nvPr/>
        </p:nvSpPr>
        <p:spPr>
          <a:xfrm>
            <a:off x="1280160" y="61081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E7D32"/>
                </a:solidFill>
              </a:rPr>
              <a:t>The project is done only when </a:t>
            </a:r>
            <a:r>
              <a:rPr lang="en-US" sz="1150" b="1" dirty="0">
                <a:solidFill>
                  <a:srgbClr val="2E7D32"/>
                </a:solidFill>
              </a:rPr>
              <a:t>A→B, A→C, B </a:t>
            </a:r>
            <a:r>
              <a:rPr lang="en-US" sz="1150" b="1">
                <a:solidFill>
                  <a:srgbClr val="2E7D32"/>
                </a:solidFill>
              </a:rPr>
              <a:t>alone </a:t>
            </a:r>
            <a:r>
              <a:rPr lang="en-US" sz="1150" b="1" dirty="0">
                <a:solidFill>
                  <a:srgbClr val="2E7D32"/>
                </a:solidFill>
              </a:rPr>
              <a:t>and C </a:t>
            </a:r>
            <a:r>
              <a:rPr lang="en-US" sz="1150" b="1">
                <a:solidFill>
                  <a:srgbClr val="2E7D32"/>
                </a:solidFill>
              </a:rPr>
              <a:t>alone all</a:t>
            </a:r>
            <a:r>
              <a:rPr lang="en-US" sz="1150" b="1" dirty="0">
                <a:solidFill>
                  <a:srgbClr val="2E7D32"/>
                </a:solidFill>
              </a:rPr>
              <a:t> pass.</a:t>
            </a:r>
            <a:endParaRPr lang="en-US" sz="11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D4F"/>
                </a:solidFill>
              </a:rPr>
              <a:t>Client decisions requested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</a:rPr>
              <a:t>Approval </a:t>
            </a:r>
            <a:r>
              <a:rPr lang="en-US" sz="1150">
                <a:solidFill>
                  <a:srgbClr val="5B6775"/>
                </a:solidFill>
              </a:rPr>
              <a:t>sets </a:t>
            </a:r>
            <a:r>
              <a:rPr lang="en-US" sz="1150" dirty="0">
                <a:solidFill>
                  <a:srgbClr val="5B6775"/>
                </a:solidFill>
              </a:rPr>
              <a:t>the </a:t>
            </a:r>
            <a:r>
              <a:rPr lang="en-US" sz="1150">
                <a:solidFill>
                  <a:srgbClr val="5B6775"/>
                </a:solidFill>
              </a:rPr>
              <a:t>build scope </a:t>
            </a:r>
            <a:r>
              <a:rPr lang="en-US" sz="1150" dirty="0">
                <a:solidFill>
                  <a:srgbClr val="5B6775"/>
                </a:solidFill>
              </a:rPr>
              <a:t>and </a:t>
            </a:r>
            <a:r>
              <a:rPr lang="en-US" sz="1150">
                <a:solidFill>
                  <a:srgbClr val="5B6775"/>
                </a:solidFill>
              </a:rPr>
              <a:t>lets </a:t>
            </a:r>
            <a:r>
              <a:rPr lang="en-US" sz="1150" dirty="0">
                <a:solidFill>
                  <a:srgbClr val="5B6775"/>
                </a:solidFill>
              </a:rPr>
              <a:t>POC </a:t>
            </a:r>
            <a:r>
              <a:rPr lang="en-US" sz="1150">
                <a:solidFill>
                  <a:srgbClr val="5B6775"/>
                </a:solidFill>
              </a:rPr>
              <a:t>work start</a:t>
            </a:r>
            <a:r>
              <a:rPr lang="en-US" sz="1150" dirty="0">
                <a:solidFill>
                  <a:srgbClr val="5B6775"/>
                </a:solidFill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25296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3258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33502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Approve the three-Skill </a:t>
            </a:r>
            <a:r>
              <a:rPr lang="en-US" sz="1300" b="1">
                <a:solidFill>
                  <a:srgbClr val="0B2D4F"/>
                </a:solidFill>
              </a:rPr>
              <a:t>design, with Streamlit as the build-time workbench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33502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203911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901952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204825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Confirm </a:t>
            </a:r>
            <a:r>
              <a:rPr lang="en-US" sz="1300" b="1">
                <a:solidFill>
                  <a:srgbClr val="0B2D4F"/>
                </a:solidFill>
              </a:rPr>
              <a:t>which </a:t>
            </a:r>
            <a:r>
              <a:rPr lang="en-US" sz="1300" b="1" dirty="0">
                <a:solidFill>
                  <a:srgbClr val="0B2D4F"/>
                </a:solidFill>
              </a:rPr>
              <a:t>GitHub Copilot and Claude Desktop </a:t>
            </a:r>
            <a:r>
              <a:rPr lang="en-US" sz="1300" b="1">
                <a:solidFill>
                  <a:srgbClr val="0B2D4F"/>
                </a:solidFill>
              </a:rPr>
              <a:t>setups we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04825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5800" y="2651760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275234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615184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276148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Approve package </a:t>
            </a:r>
            <a:r>
              <a:rPr lang="en-US" sz="1300" b="1">
                <a:solidFill>
                  <a:srgbClr val="0B2D4F"/>
                </a:solidFill>
              </a:rPr>
              <a:t>layout</a:t>
            </a:r>
            <a:r>
              <a:rPr lang="en-US" sz="1300" b="1" dirty="0">
                <a:solidFill>
                  <a:srgbClr val="0B2D4F"/>
                </a:solidFill>
              </a:rPr>
              <a:t> and SKILL.md content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76148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85800" y="3364992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" y="346557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3328416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347472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Approve input/output contracts and workspace </a:t>
            </a:r>
            <a:r>
              <a:rPr lang="en-US" sz="1300" b="1">
                <a:solidFill>
                  <a:srgbClr val="0B2D4F"/>
                </a:solidFill>
              </a:rPr>
              <a:t>rules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47472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85800" y="4078224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41788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4041648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4480" y="418795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Confirm GSK PRD, </a:t>
            </a:r>
            <a:r>
              <a:rPr lang="en-US" sz="1300" b="1">
                <a:solidFill>
                  <a:srgbClr val="0B2D4F"/>
                </a:solidFill>
              </a:rPr>
              <a:t>slide</a:t>
            </a:r>
            <a:r>
              <a:rPr lang="en-US" sz="1300" b="1" dirty="0">
                <a:solidFill>
                  <a:srgbClr val="0B2D4F"/>
                </a:solidFill>
              </a:rPr>
              <a:t> and UI templates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18795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85800" y="4791456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6384" y="48920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0160" y="4754880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54480" y="490118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Approve human </a:t>
            </a:r>
            <a:r>
              <a:rPr lang="en-US" sz="1300" b="1">
                <a:solidFill>
                  <a:srgbClr val="0B2D4F"/>
                </a:solidFill>
              </a:rPr>
              <a:t>sign-off points </a:t>
            </a:r>
            <a:r>
              <a:rPr lang="en-US" sz="1300" b="1" dirty="0">
                <a:solidFill>
                  <a:srgbClr val="0B2D4F"/>
                </a:solidFill>
              </a:rPr>
              <a:t>and no-overwrite </a:t>
            </a:r>
            <a:r>
              <a:rPr lang="en-US" sz="1300" b="1">
                <a:solidFill>
                  <a:srgbClr val="0B2D4F"/>
                </a:solidFill>
              </a:rPr>
              <a:t>rule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4901184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685800" y="5504688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" y="560527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5468112"/>
            <a:ext cx="101498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54480" y="561441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4F"/>
                </a:solidFill>
              </a:rPr>
              <a:t>Approve test </a:t>
            </a:r>
            <a:r>
              <a:rPr lang="en-US" sz="1300" b="1">
                <a:solidFill>
                  <a:srgbClr val="0B2D4F"/>
                </a:solidFill>
              </a:rPr>
              <a:t>cases</a:t>
            </a:r>
            <a:r>
              <a:rPr lang="en-US" sz="1300" b="1" dirty="0">
                <a:solidFill>
                  <a:srgbClr val="0B2D4F"/>
                </a:solidFill>
              </a:rPr>
              <a:t>, </a:t>
            </a:r>
            <a:r>
              <a:rPr lang="en-US" sz="1300" b="1">
                <a:solidFill>
                  <a:srgbClr val="0B2D4F"/>
                </a:solidFill>
              </a:rPr>
              <a:t>proof of </a:t>
            </a:r>
            <a:r>
              <a:rPr lang="en-US" sz="1300" b="1" dirty="0">
                <a:solidFill>
                  <a:srgbClr val="0B2D4F"/>
                </a:solidFill>
              </a:rPr>
              <a:t>traceability and Definition of Done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31920" y="561441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3657600" y="6035040"/>
            <a:ext cx="4846320" cy="347472"/>
          </a:xfrm>
          <a:prstGeom prst="roundRect">
            <a:avLst/>
          </a:prstGeom>
          <a:solidFill>
            <a:srgbClr val="0B2D4F"/>
          </a:solidFill>
          <a:ln w="12700">
            <a:solidFill>
              <a:srgbClr val="0B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31920" y="612648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Decision: approve design </a:t>
            </a:r>
            <a:r>
              <a:rPr lang="en-US" sz="1150" b="1">
                <a:solidFill>
                  <a:srgbClr val="FFFFFF"/>
                </a:solidFill>
              </a:rPr>
              <a:t>and record change-control items</a:t>
            </a:r>
            <a:endParaRPr lang="en-US" sz="11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2583</Words>
  <Application>Microsoft Office PowerPoint</Application>
  <PresentationFormat>Widescreen</PresentationFormat>
  <Paragraphs>407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GSK Agentic Prototype Factory Professional Design</dc:title>
  <dc:subject>PptxGenJS Presentation</dc:subject>
  <dc:creator>PRATAP SINGH, RANA ROHIT</dc:creator>
  <cp:lastModifiedBy>PRATAP SINGH, RANA ROHIT</cp:lastModifiedBy>
  <cp:revision>5</cp:revision>
  <dcterms:created xsi:type="dcterms:W3CDTF">2026-09-03T13:47:56Z</dcterms:created>
  <dcterms:modified xsi:type="dcterms:W3CDTF">2026-09-04T05:28:15Z</dcterms:modified>
</cp:coreProperties>
</file>